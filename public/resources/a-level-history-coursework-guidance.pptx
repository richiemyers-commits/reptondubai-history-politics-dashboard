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marR="0" lvl="0" algn="ctr" rtl="0">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 name="Google Shape;25;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26" name="Google Shape;2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 name="Google Shape;3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7" name="Google Shape;4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 name="Google Shape;70;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6" name="Google Shape;76;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none" strike="noStrike" cap="none">
                <a:solidFill>
                  <a:schemeClr val="dk1"/>
                </a:solidFill>
                <a:latin typeface="Calibri"/>
                <a:ea typeface="Calibri"/>
                <a:cs typeface="Calibri"/>
                <a:sym typeface="Calibri"/>
              </a:rPr>
              <a:t>Coursework</a:t>
            </a:r>
            <a:endParaRPr sz="4400" b="0" i="0" u="none" strike="noStrike" cap="none">
              <a:solidFill>
                <a:schemeClr val="dk1"/>
              </a:solidFill>
              <a:latin typeface="Calibri"/>
              <a:ea typeface="Calibri"/>
              <a:cs typeface="Calibri"/>
              <a:sym typeface="Calibri"/>
            </a:endParaRPr>
          </a:p>
        </p:txBody>
      </p:sp>
      <p:sp>
        <p:nvSpPr>
          <p:cNvPr id="85" name="Google Shape;85;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888888"/>
              </a:buClr>
              <a:buSzPts val="3200"/>
              <a:buFont typeface="Arial"/>
              <a:buNone/>
            </a:pPr>
            <a:r>
              <a:rPr lang="en-GB"/>
              <a:t>4000 words </a:t>
            </a:r>
            <a:endParaRPr sz="3200" b="0" i="0" u="none" strike="noStrike" cap="none">
              <a:solidFill>
                <a:srgbClr val="88888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467544" y="-99392"/>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sng" strike="noStrike" cap="none">
                <a:solidFill>
                  <a:schemeClr val="dk1"/>
                </a:solidFill>
                <a:latin typeface="Calibri"/>
                <a:ea typeface="Calibri"/>
                <a:cs typeface="Calibri"/>
                <a:sym typeface="Calibri"/>
              </a:rPr>
              <a:t>Main points</a:t>
            </a:r>
            <a:endParaRPr sz="4400" b="0" i="0" u="sng" strike="noStrike" cap="none">
              <a:solidFill>
                <a:schemeClr val="dk1"/>
              </a:solidFill>
              <a:latin typeface="Calibri"/>
              <a:ea typeface="Calibri"/>
              <a:cs typeface="Calibri"/>
              <a:sym typeface="Calibri"/>
            </a:endParaRPr>
          </a:p>
        </p:txBody>
      </p:sp>
      <p:sp>
        <p:nvSpPr>
          <p:cNvPr id="91" name="Google Shape;91;p14"/>
          <p:cNvSpPr txBox="1">
            <a:spLocks noGrp="1"/>
          </p:cNvSpPr>
          <p:nvPr>
            <p:ph type="body" idx="1"/>
          </p:nvPr>
        </p:nvSpPr>
        <p:spPr>
          <a:xfrm>
            <a:off x="0" y="1124744"/>
            <a:ext cx="9144000" cy="5733256"/>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dk1"/>
              </a:buClr>
              <a:buSzPts val="2240"/>
              <a:buFont typeface="Arial"/>
              <a:buChar char="•"/>
            </a:pPr>
            <a:r>
              <a:rPr lang="en-GB" sz="2240" b="0" i="0" u="none" strike="noStrike" cap="none">
                <a:solidFill>
                  <a:schemeClr val="dk1"/>
                </a:solidFill>
                <a:latin typeface="Calibri"/>
                <a:ea typeface="Calibri"/>
                <a:cs typeface="Calibri"/>
                <a:sym typeface="Calibri"/>
              </a:rPr>
              <a:t>An extended essay on a topic the learner has chosen. </a:t>
            </a:r>
            <a:endParaRPr/>
          </a:p>
          <a:p>
            <a:pPr marL="342900" marR="0" lvl="0" indent="-200660" algn="l" rtl="0">
              <a:lnSpc>
                <a:spcPct val="80000"/>
              </a:lnSpc>
              <a:spcBef>
                <a:spcPts val="448"/>
              </a:spcBef>
              <a:spcAft>
                <a:spcPts val="0"/>
              </a:spcAft>
              <a:buClr>
                <a:schemeClr val="dk1"/>
              </a:buClr>
              <a:buSzPts val="2240"/>
              <a:buFont typeface="Arial"/>
              <a:buNone/>
            </a:pPr>
            <a:endParaRPr sz="2240" b="0" i="0" u="none" strike="noStrike" cap="none">
              <a:solidFill>
                <a:schemeClr val="dk1"/>
              </a:solidFill>
              <a:latin typeface="Calibri"/>
              <a:ea typeface="Calibri"/>
              <a:cs typeface="Calibri"/>
              <a:sym typeface="Calibri"/>
            </a:endParaRPr>
          </a:p>
          <a:p>
            <a:pPr marL="342900" marR="0" lvl="0" indent="-342900" algn="l" rtl="0">
              <a:lnSpc>
                <a:spcPct val="80000"/>
              </a:lnSpc>
              <a:spcBef>
                <a:spcPts val="448"/>
              </a:spcBef>
              <a:spcAft>
                <a:spcPts val="0"/>
              </a:spcAft>
              <a:buClr>
                <a:schemeClr val="dk1"/>
              </a:buClr>
              <a:buSzPts val="2240"/>
              <a:buFont typeface="Arial"/>
              <a:buChar char="•"/>
            </a:pPr>
            <a:r>
              <a:rPr lang="en-GB" sz="2240" b="0" i="0" u="none" strike="noStrike" cap="none">
                <a:solidFill>
                  <a:schemeClr val="dk1"/>
                </a:solidFill>
                <a:latin typeface="Calibri"/>
                <a:ea typeface="Calibri"/>
                <a:cs typeface="Calibri"/>
                <a:sym typeface="Calibri"/>
              </a:rPr>
              <a:t>This should arise from independent study and research</a:t>
            </a:r>
            <a:endParaRPr/>
          </a:p>
          <a:p>
            <a:pPr marL="342900" marR="0" lvl="0" indent="-200660" algn="l" rtl="0">
              <a:lnSpc>
                <a:spcPct val="80000"/>
              </a:lnSpc>
              <a:spcBef>
                <a:spcPts val="448"/>
              </a:spcBef>
              <a:spcAft>
                <a:spcPts val="0"/>
              </a:spcAft>
              <a:buClr>
                <a:schemeClr val="dk1"/>
              </a:buClr>
              <a:buSzPts val="2240"/>
              <a:buFont typeface="Arial"/>
              <a:buNone/>
            </a:pPr>
            <a:endParaRPr sz="2240" b="0" i="0" u="none" strike="noStrike" cap="none">
              <a:solidFill>
                <a:schemeClr val="dk1"/>
              </a:solidFill>
              <a:latin typeface="Calibri"/>
              <a:ea typeface="Calibri"/>
              <a:cs typeface="Calibri"/>
              <a:sym typeface="Calibri"/>
            </a:endParaRPr>
          </a:p>
          <a:p>
            <a:pPr marL="342900" marR="0" lvl="0" indent="-342900" algn="l" rtl="0">
              <a:lnSpc>
                <a:spcPct val="80000"/>
              </a:lnSpc>
              <a:spcBef>
                <a:spcPts val="448"/>
              </a:spcBef>
              <a:spcAft>
                <a:spcPts val="0"/>
              </a:spcAft>
              <a:buClr>
                <a:schemeClr val="dk1"/>
              </a:buClr>
              <a:buSzPts val="2240"/>
              <a:buFont typeface="Arial"/>
              <a:buChar char="•"/>
            </a:pPr>
            <a:r>
              <a:rPr lang="en-GB" sz="2240" b="0" i="0" u="none" strike="noStrike" cap="none">
                <a:solidFill>
                  <a:schemeClr val="dk1"/>
                </a:solidFill>
                <a:latin typeface="Calibri"/>
                <a:ea typeface="Calibri"/>
                <a:cs typeface="Calibri"/>
                <a:sym typeface="Calibri"/>
              </a:rPr>
              <a:t>This unit is a non-exam assessment</a:t>
            </a:r>
            <a:endParaRPr/>
          </a:p>
          <a:p>
            <a:pPr marL="342900" marR="0" lvl="0" indent="-200660" algn="l" rtl="0">
              <a:lnSpc>
                <a:spcPct val="80000"/>
              </a:lnSpc>
              <a:spcBef>
                <a:spcPts val="448"/>
              </a:spcBef>
              <a:spcAft>
                <a:spcPts val="0"/>
              </a:spcAft>
              <a:buClr>
                <a:schemeClr val="dk1"/>
              </a:buClr>
              <a:buSzPts val="2240"/>
              <a:buFont typeface="Arial"/>
              <a:buNone/>
            </a:pPr>
            <a:endParaRPr sz="2240" b="0" i="0" u="none" strike="noStrike" cap="none">
              <a:solidFill>
                <a:schemeClr val="dk1"/>
              </a:solidFill>
              <a:latin typeface="Calibri"/>
              <a:ea typeface="Calibri"/>
              <a:cs typeface="Calibri"/>
              <a:sym typeface="Calibri"/>
            </a:endParaRPr>
          </a:p>
          <a:p>
            <a:pPr marL="342900" marR="0" lvl="0" indent="-342900" algn="l" rtl="0">
              <a:lnSpc>
                <a:spcPct val="80000"/>
              </a:lnSpc>
              <a:spcBef>
                <a:spcPts val="448"/>
              </a:spcBef>
              <a:spcAft>
                <a:spcPts val="0"/>
              </a:spcAft>
              <a:buClr>
                <a:schemeClr val="dk1"/>
              </a:buClr>
              <a:buSzPts val="2240"/>
              <a:buFont typeface="Arial"/>
              <a:buChar char="•"/>
            </a:pPr>
            <a:r>
              <a:rPr lang="en-GB" sz="2240" b="0" i="0" u="none" strike="noStrike" cap="none">
                <a:solidFill>
                  <a:schemeClr val="dk1"/>
                </a:solidFill>
                <a:latin typeface="Calibri"/>
                <a:ea typeface="Calibri"/>
                <a:cs typeface="Calibri"/>
                <a:sym typeface="Calibri"/>
              </a:rPr>
              <a:t>The topic must not be the same as the in-depth interpretation topics studied in unit 3 </a:t>
            </a:r>
            <a:endParaRPr/>
          </a:p>
          <a:p>
            <a:pPr marL="342900" marR="0" lvl="0" indent="-200660" algn="l" rtl="0">
              <a:lnSpc>
                <a:spcPct val="80000"/>
              </a:lnSpc>
              <a:spcBef>
                <a:spcPts val="448"/>
              </a:spcBef>
              <a:spcAft>
                <a:spcPts val="0"/>
              </a:spcAft>
              <a:buClr>
                <a:schemeClr val="dk1"/>
              </a:buClr>
              <a:buSzPts val="2240"/>
              <a:buFont typeface="Arial"/>
              <a:buNone/>
            </a:pPr>
            <a:endParaRPr sz="2240" b="0" i="0" u="none" strike="noStrike" cap="none">
              <a:solidFill>
                <a:schemeClr val="dk1"/>
              </a:solidFill>
              <a:latin typeface="Calibri"/>
              <a:ea typeface="Calibri"/>
              <a:cs typeface="Calibri"/>
              <a:sym typeface="Calibri"/>
            </a:endParaRPr>
          </a:p>
          <a:p>
            <a:pPr marL="342900" marR="0" lvl="0" indent="-342900" algn="l" rtl="0">
              <a:lnSpc>
                <a:spcPct val="80000"/>
              </a:lnSpc>
              <a:spcBef>
                <a:spcPts val="448"/>
              </a:spcBef>
              <a:spcAft>
                <a:spcPts val="0"/>
              </a:spcAft>
              <a:buClr>
                <a:schemeClr val="dk1"/>
              </a:buClr>
              <a:buSzPts val="2240"/>
              <a:buFont typeface="Arial"/>
              <a:buChar char="•"/>
            </a:pPr>
            <a:r>
              <a:rPr lang="en-GB" sz="2240" b="0" i="0" u="none" strike="noStrike" cap="none">
                <a:solidFill>
                  <a:schemeClr val="dk1"/>
                </a:solidFill>
                <a:latin typeface="Calibri"/>
                <a:ea typeface="Calibri"/>
                <a:cs typeface="Calibri"/>
                <a:sym typeface="Calibri"/>
              </a:rPr>
              <a:t>The topic may extend their knowledge of aspects of the past already studied</a:t>
            </a:r>
            <a:endParaRPr/>
          </a:p>
          <a:p>
            <a:pPr marL="342900" marR="0" lvl="0" indent="-200660" algn="l" rtl="0">
              <a:lnSpc>
                <a:spcPct val="80000"/>
              </a:lnSpc>
              <a:spcBef>
                <a:spcPts val="448"/>
              </a:spcBef>
              <a:spcAft>
                <a:spcPts val="0"/>
              </a:spcAft>
              <a:buClr>
                <a:schemeClr val="dk1"/>
              </a:buClr>
              <a:buSzPts val="2240"/>
              <a:buFont typeface="Arial"/>
              <a:buNone/>
            </a:pPr>
            <a:endParaRPr sz="2240" b="0" i="0" u="none" strike="noStrike" cap="none">
              <a:solidFill>
                <a:schemeClr val="dk1"/>
              </a:solidFill>
              <a:latin typeface="Calibri"/>
              <a:ea typeface="Calibri"/>
              <a:cs typeface="Calibri"/>
              <a:sym typeface="Calibri"/>
            </a:endParaRPr>
          </a:p>
          <a:p>
            <a:pPr marL="342900" marR="0" lvl="0" indent="-342900" algn="l" rtl="0">
              <a:lnSpc>
                <a:spcPct val="80000"/>
              </a:lnSpc>
              <a:spcBef>
                <a:spcPts val="448"/>
              </a:spcBef>
              <a:spcAft>
                <a:spcPts val="0"/>
              </a:spcAft>
              <a:buClr>
                <a:schemeClr val="dk1"/>
              </a:buClr>
              <a:buSzPts val="2240"/>
              <a:buFont typeface="Arial"/>
              <a:buChar char="•"/>
            </a:pPr>
            <a:r>
              <a:rPr lang="en-GB" sz="2240" b="0" i="0" u="none" strike="noStrike" cap="none">
                <a:solidFill>
                  <a:schemeClr val="dk1"/>
                </a:solidFill>
                <a:latin typeface="Calibri"/>
                <a:ea typeface="Calibri"/>
                <a:cs typeface="Calibri"/>
                <a:sym typeface="Calibri"/>
              </a:rPr>
              <a:t>Candidates must use a ‘range’ of both Primary and Secondary sources – 10-15 in total</a:t>
            </a:r>
            <a:endParaRPr/>
          </a:p>
          <a:p>
            <a:pPr marL="342900" marR="0" lvl="0" indent="-200660" algn="l" rtl="0">
              <a:lnSpc>
                <a:spcPct val="80000"/>
              </a:lnSpc>
              <a:spcBef>
                <a:spcPts val="448"/>
              </a:spcBef>
              <a:spcAft>
                <a:spcPts val="0"/>
              </a:spcAft>
              <a:buClr>
                <a:schemeClr val="dk1"/>
              </a:buClr>
              <a:buSzPts val="2240"/>
              <a:buFont typeface="Arial"/>
              <a:buNone/>
            </a:pPr>
            <a:endParaRPr sz="2240" b="0" i="0" u="none" strike="noStrike" cap="none">
              <a:solidFill>
                <a:schemeClr val="dk1"/>
              </a:solidFill>
              <a:latin typeface="Calibri"/>
              <a:ea typeface="Calibri"/>
              <a:cs typeface="Calibri"/>
              <a:sym typeface="Calibri"/>
            </a:endParaRPr>
          </a:p>
          <a:p>
            <a:pPr marL="342900" marR="0" lvl="0" indent="-342900" algn="l" rtl="0">
              <a:lnSpc>
                <a:spcPct val="80000"/>
              </a:lnSpc>
              <a:spcBef>
                <a:spcPts val="448"/>
              </a:spcBef>
              <a:spcAft>
                <a:spcPts val="0"/>
              </a:spcAft>
              <a:buClr>
                <a:schemeClr val="dk1"/>
              </a:buClr>
              <a:buSzPts val="2240"/>
              <a:buFont typeface="Arial"/>
              <a:buChar char="•"/>
            </a:pPr>
            <a:r>
              <a:rPr lang="en-GB" sz="2240" b="0" i="0" u="none" strike="noStrike" cap="none">
                <a:solidFill>
                  <a:schemeClr val="dk1"/>
                </a:solidFill>
                <a:latin typeface="Calibri"/>
                <a:ea typeface="Calibri"/>
                <a:cs typeface="Calibri"/>
                <a:sym typeface="Calibri"/>
              </a:rPr>
              <a:t>It should be 3000-4000 words in length</a:t>
            </a:r>
            <a:endParaRPr/>
          </a:p>
          <a:p>
            <a:pPr marL="342900" marR="0" lvl="0" indent="-200660" algn="l" rtl="0">
              <a:lnSpc>
                <a:spcPct val="80000"/>
              </a:lnSpc>
              <a:spcBef>
                <a:spcPts val="448"/>
              </a:spcBef>
              <a:spcAft>
                <a:spcPts val="0"/>
              </a:spcAft>
              <a:buClr>
                <a:schemeClr val="dk1"/>
              </a:buClr>
              <a:buSzPts val="2240"/>
              <a:buFont typeface="Arial"/>
              <a:buNone/>
            </a:pPr>
            <a:endParaRPr sz="2240" b="0" i="0" u="none" strike="noStrike" cap="none">
              <a:solidFill>
                <a:schemeClr val="dk1"/>
              </a:solidFill>
              <a:latin typeface="Calibri"/>
              <a:ea typeface="Calibri"/>
              <a:cs typeface="Calibri"/>
              <a:sym typeface="Calibri"/>
            </a:endParaRPr>
          </a:p>
          <a:p>
            <a:pPr marL="342900" marR="0" lvl="0" indent="-200660" algn="l" rtl="0">
              <a:lnSpc>
                <a:spcPct val="80000"/>
              </a:lnSpc>
              <a:spcBef>
                <a:spcPts val="448"/>
              </a:spcBef>
              <a:spcAft>
                <a:spcPts val="0"/>
              </a:spcAft>
              <a:buClr>
                <a:schemeClr val="dk1"/>
              </a:buClr>
              <a:buSzPts val="2240"/>
              <a:buFont typeface="Arial"/>
              <a:buNone/>
            </a:pPr>
            <a:endParaRPr sz="224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xEl>
                                              <p:pRg st="0" end="0"/>
                                            </p:txEl>
                                          </p:spTgt>
                                        </p:tgtEl>
                                        <p:attrNameLst>
                                          <p:attrName>style.visibility</p:attrName>
                                        </p:attrNameLst>
                                      </p:cBhvr>
                                      <p:to>
                                        <p:strVal val="visible"/>
                                      </p:to>
                                    </p:set>
                                    <p:animEffect transition="in" filter="fade">
                                      <p:cBhvr>
                                        <p:cTn id="7" dur="500"/>
                                        <p:tgtEl>
                                          <p:spTgt spid="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
                                            <p:txEl>
                                              <p:pRg st="1" end="1"/>
                                            </p:txEl>
                                          </p:spTgt>
                                        </p:tgtEl>
                                        <p:attrNameLst>
                                          <p:attrName>style.visibility</p:attrName>
                                        </p:attrNameLst>
                                      </p:cBhvr>
                                      <p:to>
                                        <p:strVal val="visible"/>
                                      </p:to>
                                    </p:set>
                                    <p:animEffect transition="in" filter="fade">
                                      <p:cBhvr>
                                        <p:cTn id="12" dur="500"/>
                                        <p:tgtEl>
                                          <p:spTgt spid="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
                                            <p:txEl>
                                              <p:pRg st="2" end="2"/>
                                            </p:txEl>
                                          </p:spTgt>
                                        </p:tgtEl>
                                        <p:attrNameLst>
                                          <p:attrName>style.visibility</p:attrName>
                                        </p:attrNameLst>
                                      </p:cBhvr>
                                      <p:to>
                                        <p:strVal val="visible"/>
                                      </p:to>
                                    </p:set>
                                    <p:animEffect transition="in" filter="fade">
                                      <p:cBhvr>
                                        <p:cTn id="17" dur="500"/>
                                        <p:tgtEl>
                                          <p:spTgt spid="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
                                            <p:txEl>
                                              <p:pRg st="3" end="3"/>
                                            </p:txEl>
                                          </p:spTgt>
                                        </p:tgtEl>
                                        <p:attrNameLst>
                                          <p:attrName>style.visibility</p:attrName>
                                        </p:attrNameLst>
                                      </p:cBhvr>
                                      <p:to>
                                        <p:strVal val="visible"/>
                                      </p:to>
                                    </p:set>
                                    <p:animEffect transition="in" filter="fade">
                                      <p:cBhvr>
                                        <p:cTn id="22" dur="500"/>
                                        <p:tgtEl>
                                          <p:spTgt spid="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1">
                                            <p:txEl>
                                              <p:pRg st="4" end="4"/>
                                            </p:txEl>
                                          </p:spTgt>
                                        </p:tgtEl>
                                        <p:attrNameLst>
                                          <p:attrName>style.visibility</p:attrName>
                                        </p:attrNameLst>
                                      </p:cBhvr>
                                      <p:to>
                                        <p:strVal val="visible"/>
                                      </p:to>
                                    </p:set>
                                    <p:animEffect transition="in" filter="fade">
                                      <p:cBhvr>
                                        <p:cTn id="27" dur="500"/>
                                        <p:tgtEl>
                                          <p:spTgt spid="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1">
                                            <p:txEl>
                                              <p:pRg st="5" end="5"/>
                                            </p:txEl>
                                          </p:spTgt>
                                        </p:tgtEl>
                                        <p:attrNameLst>
                                          <p:attrName>style.visibility</p:attrName>
                                        </p:attrNameLst>
                                      </p:cBhvr>
                                      <p:to>
                                        <p:strVal val="visible"/>
                                      </p:to>
                                    </p:set>
                                    <p:animEffect transition="in" filter="fade">
                                      <p:cBhvr>
                                        <p:cTn id="32" dur="500"/>
                                        <p:tgtEl>
                                          <p:spTgt spid="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1">
                                            <p:txEl>
                                              <p:pRg st="6" end="6"/>
                                            </p:txEl>
                                          </p:spTgt>
                                        </p:tgtEl>
                                        <p:attrNameLst>
                                          <p:attrName>style.visibility</p:attrName>
                                        </p:attrNameLst>
                                      </p:cBhvr>
                                      <p:to>
                                        <p:strVal val="visible"/>
                                      </p:to>
                                    </p:set>
                                    <p:animEffect transition="in" filter="fade">
                                      <p:cBhvr>
                                        <p:cTn id="37" dur="500"/>
                                        <p:tgtEl>
                                          <p:spTgt spid="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1">
                                            <p:txEl>
                                              <p:pRg st="7" end="7"/>
                                            </p:txEl>
                                          </p:spTgt>
                                        </p:tgtEl>
                                        <p:attrNameLst>
                                          <p:attrName>style.visibility</p:attrName>
                                        </p:attrNameLst>
                                      </p:cBhvr>
                                      <p:to>
                                        <p:strVal val="visible"/>
                                      </p:to>
                                    </p:set>
                                    <p:animEffect transition="in" filter="fade">
                                      <p:cBhvr>
                                        <p:cTn id="42" dur="500"/>
                                        <p:tgtEl>
                                          <p:spTgt spid="9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1">
                                            <p:txEl>
                                              <p:pRg st="8" end="8"/>
                                            </p:txEl>
                                          </p:spTgt>
                                        </p:tgtEl>
                                        <p:attrNameLst>
                                          <p:attrName>style.visibility</p:attrName>
                                        </p:attrNameLst>
                                      </p:cBhvr>
                                      <p:to>
                                        <p:strVal val="visible"/>
                                      </p:to>
                                    </p:set>
                                    <p:animEffect transition="in" filter="fade">
                                      <p:cBhvr>
                                        <p:cTn id="47" dur="500"/>
                                        <p:tgtEl>
                                          <p:spTgt spid="9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1">
                                            <p:txEl>
                                              <p:pRg st="9" end="9"/>
                                            </p:txEl>
                                          </p:spTgt>
                                        </p:tgtEl>
                                        <p:attrNameLst>
                                          <p:attrName>style.visibility</p:attrName>
                                        </p:attrNameLst>
                                      </p:cBhvr>
                                      <p:to>
                                        <p:strVal val="visible"/>
                                      </p:to>
                                    </p:set>
                                    <p:animEffect transition="in" filter="fade">
                                      <p:cBhvr>
                                        <p:cTn id="52" dur="500"/>
                                        <p:tgtEl>
                                          <p:spTgt spid="9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91">
                                            <p:txEl>
                                              <p:pRg st="10" end="10"/>
                                            </p:txEl>
                                          </p:spTgt>
                                        </p:tgtEl>
                                        <p:attrNameLst>
                                          <p:attrName>style.visibility</p:attrName>
                                        </p:attrNameLst>
                                      </p:cBhvr>
                                      <p:to>
                                        <p:strVal val="visible"/>
                                      </p:to>
                                    </p:set>
                                    <p:animEffect transition="in" filter="fade">
                                      <p:cBhvr>
                                        <p:cTn id="57" dur="500"/>
                                        <p:tgtEl>
                                          <p:spTgt spid="9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91">
                                            <p:txEl>
                                              <p:pRg st="11" end="11"/>
                                            </p:txEl>
                                          </p:spTgt>
                                        </p:tgtEl>
                                        <p:attrNameLst>
                                          <p:attrName>style.visibility</p:attrName>
                                        </p:attrNameLst>
                                      </p:cBhvr>
                                      <p:to>
                                        <p:strVal val="visible"/>
                                      </p:to>
                                    </p:set>
                                    <p:animEffect transition="in" filter="fade">
                                      <p:cBhvr>
                                        <p:cTn id="62" dur="500"/>
                                        <p:tgtEl>
                                          <p:spTgt spid="9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91">
                                            <p:txEl>
                                              <p:pRg st="12" end="12"/>
                                            </p:txEl>
                                          </p:spTgt>
                                        </p:tgtEl>
                                        <p:attrNameLst>
                                          <p:attrName>style.visibility</p:attrName>
                                        </p:attrNameLst>
                                      </p:cBhvr>
                                      <p:to>
                                        <p:strVal val="visible"/>
                                      </p:to>
                                    </p:set>
                                    <p:animEffect transition="in" filter="fade">
                                      <p:cBhvr>
                                        <p:cTn id="67" dur="500"/>
                                        <p:tgtEl>
                                          <p:spTgt spid="9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91">
                                            <p:txEl>
                                              <p:pRg st="13" end="13"/>
                                            </p:txEl>
                                          </p:spTgt>
                                        </p:tgtEl>
                                        <p:attrNameLst>
                                          <p:attrName>style.visibility</p:attrName>
                                        </p:attrNameLst>
                                      </p:cBhvr>
                                      <p:to>
                                        <p:strVal val="visible"/>
                                      </p:to>
                                    </p:set>
                                    <p:animEffect transition="in" filter="fade">
                                      <p:cBhvr>
                                        <p:cTn id="72" dur="500"/>
                                        <p:tgtEl>
                                          <p:spTgt spid="91">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91">
                                            <p:txEl>
                                              <p:pRg st="14" end="14"/>
                                            </p:txEl>
                                          </p:spTgt>
                                        </p:tgtEl>
                                        <p:attrNameLst>
                                          <p:attrName>style.visibility</p:attrName>
                                        </p:attrNameLst>
                                      </p:cBhvr>
                                      <p:to>
                                        <p:strVal val="visible"/>
                                      </p:to>
                                    </p:set>
                                    <p:animEffect transition="in" filter="fade">
                                      <p:cBhvr>
                                        <p:cTn id="77" dur="500"/>
                                        <p:tgtEl>
                                          <p:spTgt spid="9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467544" y="-99392"/>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sng" strike="noStrike" cap="none">
                <a:solidFill>
                  <a:schemeClr val="dk1"/>
                </a:solidFill>
                <a:latin typeface="Calibri"/>
                <a:ea typeface="Calibri"/>
                <a:cs typeface="Calibri"/>
                <a:sym typeface="Calibri"/>
              </a:rPr>
              <a:t>Main points</a:t>
            </a:r>
            <a:endParaRPr sz="4400" b="0" i="0" u="sng" strike="noStrike" cap="none">
              <a:solidFill>
                <a:schemeClr val="dk1"/>
              </a:solidFill>
              <a:latin typeface="Calibri"/>
              <a:ea typeface="Calibri"/>
              <a:cs typeface="Calibri"/>
              <a:sym typeface="Calibri"/>
            </a:endParaRPr>
          </a:p>
        </p:txBody>
      </p:sp>
      <p:sp>
        <p:nvSpPr>
          <p:cNvPr id="97" name="Google Shape;97;p15"/>
          <p:cNvSpPr txBox="1">
            <a:spLocks noGrp="1"/>
          </p:cNvSpPr>
          <p:nvPr>
            <p:ph type="body" idx="1"/>
          </p:nvPr>
        </p:nvSpPr>
        <p:spPr>
          <a:xfrm>
            <a:off x="0" y="1124744"/>
            <a:ext cx="9144000" cy="5733256"/>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2200"/>
              <a:buFont typeface="Arial"/>
              <a:buChar char="•"/>
            </a:pPr>
            <a:r>
              <a:rPr lang="en-GB" sz="2200" b="0" i="0" u="none" strike="noStrike" cap="none">
                <a:solidFill>
                  <a:schemeClr val="dk1"/>
                </a:solidFill>
                <a:latin typeface="Calibri"/>
                <a:ea typeface="Calibri"/>
                <a:cs typeface="Calibri"/>
                <a:sym typeface="Calibri"/>
              </a:rPr>
              <a:t>A01, A02 and A03 are assessed</a:t>
            </a:r>
            <a:endParaRPr/>
          </a:p>
          <a:p>
            <a:pPr marL="0" marR="0" lvl="0" indent="0" algn="l" rtl="0">
              <a:spcBef>
                <a:spcPts val="44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342900" marR="0" lvl="0" indent="-342900" algn="l" rtl="0">
              <a:spcBef>
                <a:spcPts val="440"/>
              </a:spcBef>
              <a:spcAft>
                <a:spcPts val="0"/>
              </a:spcAft>
              <a:buClr>
                <a:schemeClr val="dk1"/>
              </a:buClr>
              <a:buSzPts val="2200"/>
              <a:buFont typeface="Arial"/>
              <a:buChar char="•"/>
            </a:pPr>
            <a:r>
              <a:rPr lang="en-GB" sz="2200" b="0" i="0" u="none" strike="noStrike" cap="none">
                <a:solidFill>
                  <a:schemeClr val="dk1"/>
                </a:solidFill>
                <a:latin typeface="Calibri"/>
                <a:ea typeface="Calibri"/>
                <a:cs typeface="Calibri"/>
                <a:sym typeface="Calibri"/>
              </a:rPr>
              <a:t>Ensure that there is enough primary evidence to support different explanations of your question  </a:t>
            </a:r>
            <a:endParaRPr/>
          </a:p>
          <a:p>
            <a:pPr marL="342900" marR="0" lvl="0" indent="-203200" algn="l" rtl="0">
              <a:spcBef>
                <a:spcPts val="44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342900" marR="0" lvl="0" indent="-342900" algn="l" rtl="0">
              <a:spcBef>
                <a:spcPts val="440"/>
              </a:spcBef>
              <a:spcAft>
                <a:spcPts val="0"/>
              </a:spcAft>
              <a:buClr>
                <a:schemeClr val="dk1"/>
              </a:buClr>
              <a:buSzPts val="2200"/>
              <a:buFont typeface="Arial"/>
              <a:buChar char="•"/>
            </a:pPr>
            <a:r>
              <a:rPr lang="en-GB" sz="2200" b="0" i="0" u="none" strike="noStrike" cap="none">
                <a:solidFill>
                  <a:schemeClr val="dk1"/>
                </a:solidFill>
                <a:latin typeface="Calibri"/>
                <a:ea typeface="Calibri"/>
                <a:cs typeface="Calibri"/>
                <a:sym typeface="Calibri"/>
              </a:rPr>
              <a:t>Chosen topics and questions must allow the learner to access and evaluate different historical views </a:t>
            </a:r>
            <a:endParaRPr/>
          </a:p>
          <a:p>
            <a:pPr marL="342900" marR="0" lvl="0" indent="-203200" algn="l" rtl="0">
              <a:spcBef>
                <a:spcPts val="44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342900" marR="0" lvl="0" indent="-342900" algn="l" rtl="0">
              <a:spcBef>
                <a:spcPts val="440"/>
              </a:spcBef>
              <a:spcAft>
                <a:spcPts val="0"/>
              </a:spcAft>
              <a:buClr>
                <a:schemeClr val="dk1"/>
              </a:buClr>
              <a:buSzPts val="2200"/>
              <a:buFont typeface="Arial"/>
              <a:buChar char="•"/>
            </a:pPr>
            <a:r>
              <a:rPr lang="en-GB" sz="2200" b="0" i="0" u="none" strike="noStrike" cap="none">
                <a:solidFill>
                  <a:schemeClr val="dk1"/>
                </a:solidFill>
                <a:latin typeface="Calibri"/>
                <a:ea typeface="Calibri"/>
                <a:cs typeface="Calibri"/>
                <a:sym typeface="Calibri"/>
              </a:rPr>
              <a:t>Learners must keep a record of everything they do (Notes, sources etc.)</a:t>
            </a:r>
            <a:endParaRPr/>
          </a:p>
          <a:p>
            <a:pPr marL="342900" marR="0" lvl="0" indent="-203200" algn="l" rtl="0">
              <a:spcBef>
                <a:spcPts val="44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342900" marR="0" lvl="0" indent="-342900" algn="l" rtl="0">
              <a:spcBef>
                <a:spcPts val="440"/>
              </a:spcBef>
              <a:spcAft>
                <a:spcPts val="0"/>
              </a:spcAft>
              <a:buClr>
                <a:schemeClr val="dk1"/>
              </a:buClr>
              <a:buSzPts val="2200"/>
              <a:buFont typeface="Arial"/>
              <a:buChar char="•"/>
            </a:pPr>
            <a:r>
              <a:rPr lang="en-GB" sz="2200" b="0" i="0" u="none" strike="noStrike" cap="none">
                <a:solidFill>
                  <a:schemeClr val="dk1"/>
                </a:solidFill>
                <a:latin typeface="Calibri"/>
                <a:ea typeface="Calibri"/>
                <a:cs typeface="Calibri"/>
                <a:sym typeface="Calibri"/>
              </a:rPr>
              <a:t>All of your sources must be referenced </a:t>
            </a:r>
            <a:endParaRPr sz="2200" b="0" i="0" u="none" strike="noStrike" cap="none">
              <a:solidFill>
                <a:schemeClr val="dk1"/>
              </a:solidFill>
              <a:latin typeface="Calibri"/>
              <a:ea typeface="Calibri"/>
              <a:cs typeface="Calibri"/>
              <a:sym typeface="Calibri"/>
            </a:endParaRPr>
          </a:p>
          <a:p>
            <a:pPr marL="342900" marR="0" lvl="0" indent="-203200" algn="l" rtl="0">
              <a:spcBef>
                <a:spcPts val="44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467544" y="-99392"/>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sng" strike="noStrike" cap="none">
                <a:solidFill>
                  <a:schemeClr val="dk1"/>
                </a:solidFill>
                <a:latin typeface="Calibri"/>
                <a:ea typeface="Calibri"/>
                <a:cs typeface="Calibri"/>
                <a:sym typeface="Calibri"/>
              </a:rPr>
              <a:t>What you can expect</a:t>
            </a:r>
            <a:endParaRPr sz="4400" b="0" i="0" u="sng" strike="noStrike" cap="none">
              <a:solidFill>
                <a:schemeClr val="dk1"/>
              </a:solidFill>
              <a:latin typeface="Calibri"/>
              <a:ea typeface="Calibri"/>
              <a:cs typeface="Calibri"/>
              <a:sym typeface="Calibri"/>
            </a:endParaRPr>
          </a:p>
        </p:txBody>
      </p:sp>
      <p:sp>
        <p:nvSpPr>
          <p:cNvPr id="103" name="Google Shape;103;p16"/>
          <p:cNvSpPr txBox="1">
            <a:spLocks noGrp="1"/>
          </p:cNvSpPr>
          <p:nvPr>
            <p:ph type="body" idx="1"/>
          </p:nvPr>
        </p:nvSpPr>
        <p:spPr>
          <a:xfrm>
            <a:off x="0" y="1124744"/>
            <a:ext cx="9144000" cy="5733256"/>
          </a:xfrm>
          <a:prstGeom prst="rect">
            <a:avLst/>
          </a:prstGeom>
          <a:noFill/>
          <a:ln>
            <a:noFill/>
          </a:ln>
        </p:spPr>
        <p:txBody>
          <a:bodyPr spcFirstLastPara="1" wrap="square" lIns="91425" tIns="45700" rIns="91425" bIns="45700" anchor="t" anchorCtr="0">
            <a:noAutofit/>
          </a:bodyPr>
          <a:lstStyle/>
          <a:p>
            <a:pPr marL="342900" marR="0" lvl="0" indent="-203200" algn="l" rtl="0">
              <a:spcBef>
                <a:spcPts val="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342900" marR="0" lvl="0" indent="-342900" algn="l" rtl="0">
              <a:spcBef>
                <a:spcPts val="440"/>
              </a:spcBef>
              <a:spcAft>
                <a:spcPts val="0"/>
              </a:spcAft>
              <a:buClr>
                <a:schemeClr val="dk1"/>
              </a:buClr>
              <a:buSzPts val="2200"/>
              <a:buFont typeface="Arial"/>
              <a:buChar char="•"/>
            </a:pPr>
            <a:r>
              <a:rPr lang="en-GB" sz="2200" b="0" i="0" u="none" strike="noStrike" cap="none">
                <a:solidFill>
                  <a:schemeClr val="dk1"/>
                </a:solidFill>
                <a:latin typeface="Calibri"/>
                <a:ea typeface="Calibri"/>
                <a:cs typeface="Calibri"/>
                <a:sym typeface="Calibri"/>
              </a:rPr>
              <a:t>Under no Circumstances must a learner be told that a draft would get a certain mark as a guide to the learner improving the work </a:t>
            </a:r>
            <a:endParaRPr/>
          </a:p>
          <a:p>
            <a:pPr marL="342900" marR="0" lvl="0" indent="-203200" algn="l" rtl="0">
              <a:spcBef>
                <a:spcPts val="44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342900" marR="0" lvl="0" indent="-342900" algn="l" rtl="0">
              <a:spcBef>
                <a:spcPts val="440"/>
              </a:spcBef>
              <a:spcAft>
                <a:spcPts val="0"/>
              </a:spcAft>
              <a:buClr>
                <a:schemeClr val="dk1"/>
              </a:buClr>
              <a:buSzPts val="2200"/>
              <a:buFont typeface="Arial"/>
              <a:buChar char="•"/>
            </a:pPr>
            <a:r>
              <a:rPr lang="en-GB" sz="2200" b="0" i="0" u="none" strike="noStrike" cap="none">
                <a:solidFill>
                  <a:schemeClr val="dk1"/>
                </a:solidFill>
                <a:latin typeface="Calibri"/>
                <a:ea typeface="Calibri"/>
                <a:cs typeface="Calibri"/>
                <a:sym typeface="Calibri"/>
              </a:rPr>
              <a:t>Centre cannot provide a list of sources and interpretations </a:t>
            </a:r>
            <a:endParaRPr/>
          </a:p>
          <a:p>
            <a:pPr marL="0" marR="0" lvl="0" indent="0" algn="l" rtl="0">
              <a:spcBef>
                <a:spcPts val="44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342900" marR="0" lvl="0" indent="-342900" algn="l" rtl="0">
              <a:spcBef>
                <a:spcPts val="440"/>
              </a:spcBef>
              <a:spcAft>
                <a:spcPts val="0"/>
              </a:spcAft>
              <a:buClr>
                <a:schemeClr val="dk1"/>
              </a:buClr>
              <a:buSzPts val="2200"/>
              <a:buFont typeface="Arial"/>
              <a:buChar char="•"/>
            </a:pPr>
            <a:r>
              <a:rPr lang="en-GB" sz="2200" b="0" i="0" u="none" strike="noStrike" cap="none">
                <a:solidFill>
                  <a:schemeClr val="dk1"/>
                </a:solidFill>
                <a:latin typeface="Calibri"/>
                <a:ea typeface="Calibri"/>
                <a:cs typeface="Calibri"/>
                <a:sym typeface="Calibri"/>
              </a:rPr>
              <a:t>Centre also cannot provide model answers or writing frames specific to the task </a:t>
            </a:r>
            <a:endParaRPr/>
          </a:p>
          <a:p>
            <a:pPr marL="0" marR="0" lvl="0" indent="0" algn="l" rtl="0">
              <a:spcBef>
                <a:spcPts val="44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342900" marR="0" lvl="0" indent="-342900" algn="l" rtl="0">
              <a:spcBef>
                <a:spcPts val="440"/>
              </a:spcBef>
              <a:spcAft>
                <a:spcPts val="0"/>
              </a:spcAft>
              <a:buClr>
                <a:schemeClr val="dk1"/>
              </a:buClr>
              <a:buSzPts val="2200"/>
              <a:buFont typeface="Arial"/>
              <a:buChar char="•"/>
            </a:pPr>
            <a:r>
              <a:rPr lang="en-GB" sz="2200" b="0" i="0" u="none" strike="noStrike" cap="none">
                <a:solidFill>
                  <a:schemeClr val="dk1"/>
                </a:solidFill>
                <a:latin typeface="Calibri"/>
                <a:ea typeface="Calibri"/>
                <a:cs typeface="Calibri"/>
                <a:sym typeface="Calibri"/>
              </a:rPr>
              <a:t>Centre can only provide general advice on how to improve drafts </a:t>
            </a:r>
            <a:endParaRPr/>
          </a:p>
          <a:p>
            <a:pPr marL="0" marR="0" lvl="0" indent="0" algn="l" rtl="0">
              <a:spcBef>
                <a:spcPts val="48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a:p>
            <a:pPr marL="342900" marR="0" lvl="0" indent="-342900" algn="l" rtl="0">
              <a:spcBef>
                <a:spcPts val="440"/>
              </a:spcBef>
              <a:spcAft>
                <a:spcPts val="0"/>
              </a:spcAft>
              <a:buClr>
                <a:schemeClr val="dk1"/>
              </a:buClr>
              <a:buSzPts val="2200"/>
              <a:buFont typeface="Arial"/>
              <a:buChar char="•"/>
            </a:pPr>
            <a:r>
              <a:rPr lang="en-GB" sz="2200" b="0" i="0" u="none" strike="noStrike" cap="none">
                <a:solidFill>
                  <a:schemeClr val="dk1"/>
                </a:solidFill>
                <a:latin typeface="Calibri"/>
                <a:ea typeface="Calibri"/>
                <a:cs typeface="Calibri"/>
                <a:sym typeface="Calibri"/>
              </a:rPr>
              <a:t>A simplified and learner-friendly version of the marking scheme will be provided later in the course</a:t>
            </a:r>
            <a:endParaRPr/>
          </a:p>
          <a:p>
            <a:pPr marL="342900" marR="0" lvl="0" indent="-203200" algn="l" rtl="0">
              <a:spcBef>
                <a:spcPts val="44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none" strike="noStrike" cap="none">
                <a:solidFill>
                  <a:schemeClr val="dk1"/>
                </a:solidFill>
                <a:latin typeface="Calibri"/>
                <a:ea typeface="Calibri"/>
                <a:cs typeface="Calibri"/>
                <a:sym typeface="Calibri"/>
              </a:rPr>
              <a:t>A01</a:t>
            </a:r>
            <a:endParaRPr sz="4400" b="0" i="0" u="none" strike="noStrike" cap="none">
              <a:solidFill>
                <a:schemeClr val="dk1"/>
              </a:solidFill>
              <a:latin typeface="Calibri"/>
              <a:ea typeface="Calibri"/>
              <a:cs typeface="Calibri"/>
              <a:sym typeface="Calibri"/>
            </a:endParaRPr>
          </a:p>
        </p:txBody>
      </p:sp>
      <p:sp>
        <p:nvSpPr>
          <p:cNvPr id="109" name="Google Shape;109;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This deals with knowledge and understanding. It looks for:</a:t>
            </a:r>
            <a:endParaRPr/>
          </a:p>
          <a:p>
            <a:pPr marL="342900" marR="0" lvl="0" indent="-190500" algn="l" rtl="0">
              <a:spcBef>
                <a:spcPts val="48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a:p>
            <a:pPr marL="742950" marR="0" lvl="1" indent="-285750" algn="l" rtl="0">
              <a:spcBef>
                <a:spcPts val="48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Focus on the question </a:t>
            </a:r>
            <a:endParaRPr/>
          </a:p>
          <a:p>
            <a:pPr marL="742950" marR="0" lvl="1" indent="-285750" algn="l" rtl="0">
              <a:spcBef>
                <a:spcPts val="48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Detailed and relevant knowledge </a:t>
            </a:r>
            <a:endParaRPr/>
          </a:p>
          <a:p>
            <a:pPr marL="742950" marR="0" lvl="1" indent="-285750" algn="l" rtl="0">
              <a:spcBef>
                <a:spcPts val="48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Understanding of the issues </a:t>
            </a:r>
            <a:endParaRPr/>
          </a:p>
          <a:p>
            <a:pPr marL="742950" marR="0" lvl="1" indent="-285750" algn="l" rtl="0">
              <a:spcBef>
                <a:spcPts val="48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Analysing and Evaluating key features of the period </a:t>
            </a:r>
            <a:endParaRPr/>
          </a:p>
          <a:p>
            <a:pPr marL="742950" marR="0" lvl="1" indent="-285750" algn="l" rtl="0">
              <a:spcBef>
                <a:spcPts val="48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A clear and well supported argument </a:t>
            </a:r>
            <a:endParaRPr/>
          </a:p>
          <a:p>
            <a:pPr marL="742950" marR="0" lvl="1" indent="-285750" algn="l" rtl="0">
              <a:spcBef>
                <a:spcPts val="48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A convincing and substantiated judgement </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none" strike="noStrike" cap="none">
                <a:solidFill>
                  <a:schemeClr val="dk1"/>
                </a:solidFill>
                <a:latin typeface="Calibri"/>
                <a:ea typeface="Calibri"/>
                <a:cs typeface="Calibri"/>
                <a:sym typeface="Calibri"/>
              </a:rPr>
              <a:t>A02</a:t>
            </a:r>
            <a:endParaRPr sz="4400" b="0" i="0" u="none" strike="noStrike" cap="none">
              <a:solidFill>
                <a:schemeClr val="dk1"/>
              </a:solidFill>
              <a:latin typeface="Calibri"/>
              <a:ea typeface="Calibri"/>
              <a:cs typeface="Calibri"/>
              <a:sym typeface="Calibri"/>
            </a:endParaRPr>
          </a:p>
        </p:txBody>
      </p:sp>
      <p:sp>
        <p:nvSpPr>
          <p:cNvPr id="115" name="Google Shape;115;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Assessment of Primary Sources. It looks for:</a:t>
            </a:r>
            <a:endParaRPr/>
          </a:p>
          <a:p>
            <a:pPr marL="342900" marR="0" lvl="0" indent="-190500" algn="l" rtl="0">
              <a:spcBef>
                <a:spcPts val="48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a:p>
            <a:pPr marL="742950" marR="0" lvl="1" indent="-285750" algn="l" rtl="0">
              <a:spcBef>
                <a:spcPts val="48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Excellent Evaluation of a range of Primary sources</a:t>
            </a:r>
            <a:endParaRPr/>
          </a:p>
          <a:p>
            <a:pPr marL="742950" marR="0" lvl="1" indent="-285750" algn="l" rtl="0">
              <a:spcBef>
                <a:spcPts val="48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There should be detailed and accurate knowledge used to analyse these sources within their historical context.</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none" strike="noStrike" cap="none">
                <a:solidFill>
                  <a:schemeClr val="dk1"/>
                </a:solidFill>
                <a:latin typeface="Calibri"/>
                <a:ea typeface="Calibri"/>
                <a:cs typeface="Calibri"/>
                <a:sym typeface="Calibri"/>
              </a:rPr>
              <a:t>A03</a:t>
            </a:r>
            <a:endParaRPr sz="4400" b="0" i="0" u="none" strike="noStrike" cap="none">
              <a:solidFill>
                <a:schemeClr val="dk1"/>
              </a:solidFill>
              <a:latin typeface="Calibri"/>
              <a:ea typeface="Calibri"/>
              <a:cs typeface="Calibri"/>
              <a:sym typeface="Calibri"/>
            </a:endParaRPr>
          </a:p>
        </p:txBody>
      </p:sp>
      <p:sp>
        <p:nvSpPr>
          <p:cNvPr id="121" name="Google Shape;121;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Assessment of how History has been interpreted, where the interpretations have been considered later (Secondary). There Should be:</a:t>
            </a:r>
            <a:endParaRPr/>
          </a:p>
          <a:p>
            <a:pPr marL="342900" marR="0" lvl="0" indent="-190500" algn="l" rtl="0">
              <a:spcBef>
                <a:spcPts val="48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a:p>
            <a:pPr marL="742950" marR="0" lvl="1" indent="-285750" algn="l" rtl="0">
              <a:spcBef>
                <a:spcPts val="48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Excellent Evaluation of a range of different interpretations </a:t>
            </a:r>
            <a:endParaRPr/>
          </a:p>
          <a:p>
            <a:pPr marL="742950" marR="0" lvl="1" indent="-285750" algn="l" rtl="0">
              <a:spcBef>
                <a:spcPts val="48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Evidence of detailed and accurate knowledge </a:t>
            </a:r>
            <a:endParaRPr/>
          </a:p>
          <a:p>
            <a:pPr marL="742950" marR="0" lvl="1" indent="-285750" algn="l" rtl="0">
              <a:spcBef>
                <a:spcPts val="48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Different Interpretations, that should be analysed and located within the wider Historical context</a:t>
            </a:r>
            <a:endParaRPr/>
          </a:p>
          <a:p>
            <a:pPr marL="742950" marR="0" lvl="1" indent="-107950" algn="l" rtl="0">
              <a:spcBef>
                <a:spcPts val="56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none" strike="noStrike" cap="none">
                <a:solidFill>
                  <a:schemeClr val="dk1"/>
                </a:solidFill>
                <a:latin typeface="Calibri"/>
                <a:ea typeface="Calibri"/>
                <a:cs typeface="Calibri"/>
                <a:sym typeface="Calibri"/>
              </a:rPr>
              <a:t>Primary Sources</a:t>
            </a:r>
            <a:endParaRPr sz="4400" b="0" i="0" u="none" strike="noStrike" cap="none">
              <a:solidFill>
                <a:schemeClr val="dk1"/>
              </a:solidFill>
              <a:latin typeface="Calibri"/>
              <a:ea typeface="Calibri"/>
              <a:cs typeface="Calibri"/>
              <a:sym typeface="Calibri"/>
            </a:endParaRPr>
          </a:p>
        </p:txBody>
      </p:sp>
      <p:sp>
        <p:nvSpPr>
          <p:cNvPr id="127" name="Google Shape;127;p20"/>
          <p:cNvSpPr txBox="1">
            <a:spLocks noGrp="1"/>
          </p:cNvSpPr>
          <p:nvPr>
            <p:ph type="body" idx="1"/>
          </p:nvPr>
        </p:nvSpPr>
        <p:spPr>
          <a:xfrm>
            <a:off x="457200" y="1600200"/>
            <a:ext cx="8229600" cy="5257800"/>
          </a:xfrm>
          <a:prstGeom prst="rect">
            <a:avLst/>
          </a:prstGeom>
          <a:noFill/>
          <a:ln>
            <a:noFill/>
          </a:ln>
        </p:spPr>
        <p:txBody>
          <a:bodyPr spcFirstLastPara="1" wrap="square" lIns="91425" tIns="45700" rIns="91425" bIns="45700" anchor="t" anchorCtr="0">
            <a:noAutofit/>
          </a:bodyPr>
          <a:lstStyle/>
          <a:p>
            <a:pPr marL="342900" marR="0" lvl="0" indent="-330835" algn="l" rtl="0">
              <a:lnSpc>
                <a:spcPct val="80000"/>
              </a:lnSpc>
              <a:spcBef>
                <a:spcPts val="0"/>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Personal Records (letters, diaries and daily planners)</a:t>
            </a:r>
            <a:endParaRPr sz="1900"/>
          </a:p>
          <a:p>
            <a:pPr marL="342900" marR="0" lvl="0" indent="-330835" algn="l" rtl="0">
              <a:lnSpc>
                <a:spcPct val="80000"/>
              </a:lnSpc>
              <a:spcBef>
                <a:spcPts val="418"/>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Vital records (Birth, marriage and death certificates)</a:t>
            </a:r>
            <a:endParaRPr sz="1900"/>
          </a:p>
          <a:p>
            <a:pPr marL="342900" marR="0" lvl="0" indent="-330835" algn="l" rtl="0">
              <a:lnSpc>
                <a:spcPct val="80000"/>
              </a:lnSpc>
              <a:spcBef>
                <a:spcPts val="418"/>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Government records (census, military)</a:t>
            </a:r>
            <a:endParaRPr sz="1900"/>
          </a:p>
          <a:p>
            <a:pPr marL="342900" marR="0" lvl="0" indent="-330835" algn="l" rtl="0">
              <a:lnSpc>
                <a:spcPct val="80000"/>
              </a:lnSpc>
              <a:spcBef>
                <a:spcPts val="418"/>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Manuscripts </a:t>
            </a:r>
            <a:endParaRPr sz="1900"/>
          </a:p>
          <a:p>
            <a:pPr marL="342900" marR="0" lvl="0" indent="-330835" algn="l" rtl="0">
              <a:lnSpc>
                <a:spcPct val="80000"/>
              </a:lnSpc>
              <a:spcBef>
                <a:spcPts val="418"/>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Institutional records (financial records, reports, meeting minutes, newsletters)</a:t>
            </a:r>
            <a:endParaRPr sz="1900"/>
          </a:p>
          <a:p>
            <a:pPr marL="342900" marR="0" lvl="0" indent="-330835" algn="l" rtl="0">
              <a:lnSpc>
                <a:spcPct val="80000"/>
              </a:lnSpc>
              <a:spcBef>
                <a:spcPts val="418"/>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Mass Media (newspapers, magazines, TV or radio broadcasts, songs, advertisements)</a:t>
            </a:r>
            <a:endParaRPr sz="1900"/>
          </a:p>
          <a:p>
            <a:pPr marL="342900" marR="0" lvl="0" indent="-330835" algn="l" rtl="0">
              <a:lnSpc>
                <a:spcPct val="80000"/>
              </a:lnSpc>
              <a:spcBef>
                <a:spcPts val="418"/>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Ephemera (programmes, posters, tickers, leaflets, stickers)</a:t>
            </a:r>
            <a:endParaRPr sz="1900"/>
          </a:p>
          <a:p>
            <a:pPr marL="342900" marR="0" lvl="0" indent="-330835" algn="l" rtl="0">
              <a:lnSpc>
                <a:spcPct val="80000"/>
              </a:lnSpc>
              <a:spcBef>
                <a:spcPts val="418"/>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Artefacts (coins, clothing, tools, furniture)</a:t>
            </a:r>
            <a:endParaRPr sz="1900"/>
          </a:p>
          <a:p>
            <a:pPr marL="342900" marR="0" lvl="0" indent="-330835" algn="l" rtl="0">
              <a:lnSpc>
                <a:spcPct val="80000"/>
              </a:lnSpc>
              <a:spcBef>
                <a:spcPts val="418"/>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Oral Histories (Interviews, Memoirs, eye-witness, autobiographies)</a:t>
            </a:r>
            <a:endParaRPr sz="1900"/>
          </a:p>
          <a:p>
            <a:pPr marL="342900" marR="0" lvl="0" indent="-330835" algn="l" rtl="0">
              <a:lnSpc>
                <a:spcPct val="80000"/>
              </a:lnSpc>
              <a:spcBef>
                <a:spcPts val="418"/>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Photographs </a:t>
            </a:r>
            <a:endParaRPr sz="1900"/>
          </a:p>
          <a:p>
            <a:pPr marL="342900" marR="0" lvl="0" indent="-330835" algn="l" rtl="0">
              <a:lnSpc>
                <a:spcPct val="80000"/>
              </a:lnSpc>
              <a:spcBef>
                <a:spcPts val="418"/>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Maps</a:t>
            </a:r>
            <a:endParaRPr sz="1900"/>
          </a:p>
          <a:p>
            <a:pPr marL="342900" marR="0" lvl="0" indent="-330835" algn="l" rtl="0">
              <a:lnSpc>
                <a:spcPct val="80000"/>
              </a:lnSpc>
              <a:spcBef>
                <a:spcPts val="418"/>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Postcards</a:t>
            </a:r>
            <a:endParaRPr sz="1900"/>
          </a:p>
          <a:p>
            <a:pPr marL="342900" marR="0" lvl="0" indent="-330835" algn="l" rtl="0">
              <a:lnSpc>
                <a:spcPct val="80000"/>
              </a:lnSpc>
              <a:spcBef>
                <a:spcPts val="418"/>
              </a:spcBef>
              <a:spcAft>
                <a:spcPts val="0"/>
              </a:spcAft>
              <a:buClr>
                <a:schemeClr val="dk1"/>
              </a:buClr>
              <a:buSzPts val="1900"/>
              <a:buFont typeface="Arial"/>
              <a:buChar char="•"/>
            </a:pPr>
            <a:r>
              <a:rPr lang="en-GB" sz="1900" b="0" i="0" u="none" strike="noStrike" cap="none">
                <a:solidFill>
                  <a:schemeClr val="dk1"/>
                </a:solidFill>
                <a:latin typeface="Calibri"/>
                <a:ea typeface="Calibri"/>
                <a:cs typeface="Calibri"/>
                <a:sym typeface="Calibri"/>
              </a:rPr>
              <a:t>Paintings, drawings, sculptures</a:t>
            </a:r>
            <a:endParaRPr sz="1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none" strike="noStrike" cap="none">
                <a:solidFill>
                  <a:schemeClr val="dk1"/>
                </a:solidFill>
                <a:latin typeface="Calibri"/>
                <a:ea typeface="Calibri"/>
                <a:cs typeface="Calibri"/>
                <a:sym typeface="Calibri"/>
              </a:rPr>
              <a:t>Secondary Sources </a:t>
            </a:r>
            <a:endParaRPr sz="4400" b="0" i="0" u="none" strike="noStrike" cap="none">
              <a:solidFill>
                <a:schemeClr val="dk1"/>
              </a:solidFill>
              <a:latin typeface="Calibri"/>
              <a:ea typeface="Calibri"/>
              <a:cs typeface="Calibri"/>
              <a:sym typeface="Calibri"/>
            </a:endParaRPr>
          </a:p>
        </p:txBody>
      </p:sp>
      <p:sp>
        <p:nvSpPr>
          <p:cNvPr id="133" name="Google Shape;133;p2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3200"/>
              <a:buFont typeface="Arial"/>
              <a:buChar char="•"/>
            </a:pPr>
            <a:r>
              <a:rPr lang="en-GB" sz="3200" b="0" i="0" u="none" strike="noStrike" cap="none">
                <a:solidFill>
                  <a:schemeClr val="dk1"/>
                </a:solidFill>
                <a:latin typeface="Calibri"/>
                <a:ea typeface="Calibri"/>
                <a:cs typeface="Calibri"/>
                <a:sym typeface="Calibri"/>
              </a:rPr>
              <a:t>Books, textbooks</a:t>
            </a:r>
            <a:endParaRPr/>
          </a:p>
          <a:p>
            <a:pPr marL="342900" marR="0" lvl="0" indent="-342900" algn="l" rtl="0">
              <a:spcBef>
                <a:spcPts val="640"/>
              </a:spcBef>
              <a:spcAft>
                <a:spcPts val="0"/>
              </a:spcAft>
              <a:buClr>
                <a:schemeClr val="dk1"/>
              </a:buClr>
              <a:buSzPts val="3200"/>
              <a:buFont typeface="Arial"/>
              <a:buChar char="•"/>
            </a:pPr>
            <a:r>
              <a:rPr lang="en-GB" sz="3200" b="0" i="0" u="none" strike="noStrike" cap="none">
                <a:solidFill>
                  <a:schemeClr val="dk1"/>
                </a:solidFill>
                <a:latin typeface="Calibri"/>
                <a:ea typeface="Calibri"/>
                <a:cs typeface="Calibri"/>
                <a:sym typeface="Calibri"/>
              </a:rPr>
              <a:t>Journals </a:t>
            </a:r>
            <a:endParaRPr/>
          </a:p>
          <a:p>
            <a:pPr marL="342900" marR="0" lvl="0" indent="-342900" algn="l" rtl="0">
              <a:spcBef>
                <a:spcPts val="640"/>
              </a:spcBef>
              <a:spcAft>
                <a:spcPts val="0"/>
              </a:spcAft>
              <a:buClr>
                <a:schemeClr val="dk1"/>
              </a:buClr>
              <a:buSzPts val="3200"/>
              <a:buFont typeface="Arial"/>
              <a:buChar char="•"/>
            </a:pPr>
            <a:r>
              <a:rPr lang="en-GB" sz="3200" b="0" i="0" u="none" strike="noStrike" cap="none">
                <a:solidFill>
                  <a:schemeClr val="dk1"/>
                </a:solidFill>
                <a:latin typeface="Calibri"/>
                <a:ea typeface="Calibri"/>
                <a:cs typeface="Calibri"/>
                <a:sym typeface="Calibri"/>
              </a:rPr>
              <a:t>Articles</a:t>
            </a:r>
            <a:endParaRPr/>
          </a:p>
          <a:p>
            <a:pPr marL="342900" marR="0" lvl="0" indent="-342900" algn="l" rtl="0">
              <a:spcBef>
                <a:spcPts val="640"/>
              </a:spcBef>
              <a:spcAft>
                <a:spcPts val="0"/>
              </a:spcAft>
              <a:buClr>
                <a:schemeClr val="dk1"/>
              </a:buClr>
              <a:buSzPts val="3200"/>
              <a:buFont typeface="Arial"/>
              <a:buChar char="•"/>
            </a:pPr>
            <a:r>
              <a:rPr lang="en-GB" sz="3200" b="0" i="0" u="none" strike="noStrike" cap="none">
                <a:solidFill>
                  <a:schemeClr val="dk1"/>
                </a:solidFill>
                <a:latin typeface="Calibri"/>
                <a:ea typeface="Calibri"/>
                <a:cs typeface="Calibri"/>
                <a:sym typeface="Calibri"/>
              </a:rPr>
              <a:t>Websites </a:t>
            </a:r>
            <a:endParaRPr/>
          </a:p>
          <a:p>
            <a:pPr marL="342900" marR="0" lvl="0" indent="-342900" algn="l" rtl="0">
              <a:spcBef>
                <a:spcPts val="640"/>
              </a:spcBef>
              <a:spcAft>
                <a:spcPts val="0"/>
              </a:spcAft>
              <a:buClr>
                <a:schemeClr val="dk1"/>
              </a:buClr>
              <a:buSzPts val="3200"/>
              <a:buFont typeface="Arial"/>
              <a:buChar char="•"/>
            </a:pPr>
            <a:r>
              <a:rPr lang="en-GB" sz="3200" b="0" i="0" u="none" strike="noStrike" cap="none">
                <a:solidFill>
                  <a:schemeClr val="dk1"/>
                </a:solidFill>
                <a:latin typeface="Calibri"/>
                <a:ea typeface="Calibri"/>
                <a:cs typeface="Calibri"/>
                <a:sym typeface="Calibri"/>
              </a:rPr>
              <a:t>Essays, reviews </a:t>
            </a:r>
            <a:endParaRPr/>
          </a:p>
          <a:p>
            <a:pPr marL="342900" marR="0" lvl="0" indent="-342900" algn="l" rtl="0">
              <a:spcBef>
                <a:spcPts val="640"/>
              </a:spcBef>
              <a:spcAft>
                <a:spcPts val="0"/>
              </a:spcAft>
              <a:buClr>
                <a:schemeClr val="dk1"/>
              </a:buClr>
              <a:buSzPts val="3200"/>
              <a:buFont typeface="Arial"/>
              <a:buChar char="•"/>
            </a:pPr>
            <a:r>
              <a:rPr lang="en-GB" sz="3200" b="0" i="0" u="none" strike="noStrike" cap="none">
                <a:solidFill>
                  <a:schemeClr val="dk1"/>
                </a:solidFill>
                <a:latin typeface="Calibri"/>
                <a:ea typeface="Calibri"/>
                <a:cs typeface="Calibri"/>
                <a:sym typeface="Calibri"/>
              </a:rPr>
              <a:t>Criticisms, commentaries  </a:t>
            </a:r>
            <a:endParaRPr/>
          </a:p>
          <a:p>
            <a:pPr marL="342900" marR="0" lvl="0" indent="-139700" algn="l" rtl="0">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a:spLocks noGrp="1"/>
          </p:cNvSpPr>
          <p:nvPr>
            <p:ph type="title"/>
          </p:nvPr>
        </p:nvSpPr>
        <p:spPr>
          <a:xfrm>
            <a:off x="467544" y="-99392"/>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sng" strike="noStrike" cap="none">
                <a:solidFill>
                  <a:schemeClr val="dk1"/>
                </a:solidFill>
                <a:latin typeface="Calibri"/>
                <a:ea typeface="Calibri"/>
                <a:cs typeface="Calibri"/>
                <a:sym typeface="Calibri"/>
              </a:rPr>
              <a:t>Picking a topic….</a:t>
            </a:r>
            <a:endParaRPr sz="4400" b="0" i="0" u="sng" strike="noStrike" cap="none">
              <a:solidFill>
                <a:schemeClr val="dk1"/>
              </a:solidFill>
              <a:latin typeface="Calibri"/>
              <a:ea typeface="Calibri"/>
              <a:cs typeface="Calibri"/>
              <a:sym typeface="Calibri"/>
            </a:endParaRPr>
          </a:p>
        </p:txBody>
      </p:sp>
      <p:sp>
        <p:nvSpPr>
          <p:cNvPr id="139" name="Google Shape;139;p22"/>
          <p:cNvSpPr txBox="1">
            <a:spLocks noGrp="1"/>
          </p:cNvSpPr>
          <p:nvPr>
            <p:ph type="body" idx="1"/>
          </p:nvPr>
        </p:nvSpPr>
        <p:spPr>
          <a:xfrm>
            <a:off x="457200" y="1052736"/>
            <a:ext cx="8229600" cy="5472608"/>
          </a:xfrm>
          <a:prstGeom prst="rect">
            <a:avLst/>
          </a:prstGeom>
          <a:noFill/>
          <a:ln>
            <a:noFill/>
          </a:ln>
        </p:spPr>
        <p:txBody>
          <a:bodyPr spcFirstLastPara="1" wrap="square" lIns="91425" tIns="45700" rIns="91425" bIns="45700" anchor="t" anchorCtr="0">
            <a:noAutofit/>
          </a:bodyPr>
          <a:lstStyle/>
          <a:p>
            <a:pPr marL="342900" marR="0" lvl="0" indent="-322580" algn="l" rtl="0">
              <a:lnSpc>
                <a:spcPct val="80000"/>
              </a:lnSpc>
              <a:spcBef>
                <a:spcPts val="0"/>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Identify areas that you might like to do a piece of research into. This could be because; </a:t>
            </a:r>
            <a:endParaRPr sz="2400"/>
          </a:p>
          <a:p>
            <a:pPr marL="342900" marR="0" lvl="0" indent="-170180" algn="l" rtl="0">
              <a:lnSpc>
                <a:spcPct val="80000"/>
              </a:lnSpc>
              <a:spcBef>
                <a:spcPts val="544"/>
              </a:spcBef>
              <a:spcAft>
                <a:spcPts val="0"/>
              </a:spcAft>
              <a:buClr>
                <a:schemeClr val="dk1"/>
              </a:buClr>
              <a:buSzPts val="2720"/>
              <a:buFont typeface="Arial"/>
              <a:buNone/>
            </a:pPr>
            <a:endParaRPr sz="2400" b="0" i="0" u="none" strike="noStrike" cap="none">
              <a:solidFill>
                <a:schemeClr val="dk1"/>
              </a:solidFill>
              <a:latin typeface="Calibri"/>
              <a:ea typeface="Calibri"/>
              <a:cs typeface="Calibri"/>
              <a:sym typeface="Calibri"/>
            </a:endParaRPr>
          </a:p>
          <a:p>
            <a:pPr marL="342900" marR="0" lvl="0" indent="-322580" algn="l" rtl="0">
              <a:lnSpc>
                <a:spcPct val="80000"/>
              </a:lnSpc>
              <a:spcBef>
                <a:spcPts val="544"/>
              </a:spcBef>
              <a:spcAft>
                <a:spcPts val="0"/>
              </a:spcAft>
              <a:buClr>
                <a:schemeClr val="dk1"/>
              </a:buClr>
              <a:buSzPts val="2400"/>
              <a:buFont typeface="Noto Sans Symbols"/>
              <a:buChar char="➢"/>
            </a:pPr>
            <a:r>
              <a:rPr lang="en-GB" sz="2400" b="0" i="0" u="none" strike="noStrike" cap="none">
                <a:solidFill>
                  <a:schemeClr val="dk1"/>
                </a:solidFill>
                <a:latin typeface="Calibri"/>
                <a:ea typeface="Calibri"/>
                <a:cs typeface="Calibri"/>
                <a:sym typeface="Calibri"/>
              </a:rPr>
              <a:t> You wish to expand your knowledge in a topic already studied</a:t>
            </a:r>
            <a:endParaRPr sz="2400"/>
          </a:p>
          <a:p>
            <a:pPr marL="342900" marR="0" lvl="0" indent="-322580" algn="l" rtl="0">
              <a:lnSpc>
                <a:spcPct val="80000"/>
              </a:lnSpc>
              <a:spcBef>
                <a:spcPts val="544"/>
              </a:spcBef>
              <a:spcAft>
                <a:spcPts val="0"/>
              </a:spcAft>
              <a:buClr>
                <a:schemeClr val="dk1"/>
              </a:buClr>
              <a:buSzPts val="2400"/>
              <a:buFont typeface="Noto Sans Symbols"/>
              <a:buChar char="➢"/>
            </a:pPr>
            <a:r>
              <a:rPr lang="en-GB" sz="2400" b="0" i="0" u="none" strike="noStrike" cap="none">
                <a:solidFill>
                  <a:schemeClr val="dk1"/>
                </a:solidFill>
                <a:latin typeface="Calibri"/>
                <a:ea typeface="Calibri"/>
                <a:cs typeface="Calibri"/>
                <a:sym typeface="Calibri"/>
              </a:rPr>
              <a:t>You have a particular local interest</a:t>
            </a:r>
            <a:endParaRPr sz="2400"/>
          </a:p>
          <a:p>
            <a:pPr marL="342900" marR="0" lvl="0" indent="-322580" algn="l" rtl="0">
              <a:lnSpc>
                <a:spcPct val="80000"/>
              </a:lnSpc>
              <a:spcBef>
                <a:spcPts val="544"/>
              </a:spcBef>
              <a:spcAft>
                <a:spcPts val="0"/>
              </a:spcAft>
              <a:buClr>
                <a:schemeClr val="dk1"/>
              </a:buClr>
              <a:buSzPts val="2400"/>
              <a:buFont typeface="Noto Sans Symbols"/>
              <a:buChar char="➢"/>
            </a:pPr>
            <a:r>
              <a:rPr lang="en-GB" sz="2400" b="0" i="0" u="none" strike="noStrike" cap="none">
                <a:solidFill>
                  <a:schemeClr val="dk1"/>
                </a:solidFill>
                <a:latin typeface="Calibri"/>
                <a:ea typeface="Calibri"/>
                <a:cs typeface="Calibri"/>
                <a:sym typeface="Calibri"/>
              </a:rPr>
              <a:t>You have a particular family interest </a:t>
            </a:r>
            <a:endParaRPr sz="2400"/>
          </a:p>
          <a:p>
            <a:pPr marL="342900" marR="0" lvl="0" indent="-322580" algn="l" rtl="0">
              <a:lnSpc>
                <a:spcPct val="80000"/>
              </a:lnSpc>
              <a:spcBef>
                <a:spcPts val="544"/>
              </a:spcBef>
              <a:spcAft>
                <a:spcPts val="0"/>
              </a:spcAft>
              <a:buClr>
                <a:schemeClr val="dk1"/>
              </a:buClr>
              <a:buSzPts val="2400"/>
              <a:buFont typeface="Noto Sans Symbols"/>
              <a:buChar char="➢"/>
            </a:pPr>
            <a:r>
              <a:rPr lang="en-GB" sz="2400" b="0" i="0" u="none" strike="noStrike" cap="none">
                <a:solidFill>
                  <a:schemeClr val="dk1"/>
                </a:solidFill>
                <a:latin typeface="Calibri"/>
                <a:ea typeface="Calibri"/>
                <a:cs typeface="Calibri"/>
                <a:sym typeface="Calibri"/>
              </a:rPr>
              <a:t>You may wish to study something completely different in terms of topic or theme</a:t>
            </a:r>
            <a:endParaRPr sz="2400"/>
          </a:p>
          <a:p>
            <a:pPr marL="342900" marR="0" lvl="0" indent="-322580" algn="l" rtl="0">
              <a:lnSpc>
                <a:spcPct val="80000"/>
              </a:lnSpc>
              <a:spcBef>
                <a:spcPts val="544"/>
              </a:spcBef>
              <a:spcAft>
                <a:spcPts val="0"/>
              </a:spcAft>
              <a:buClr>
                <a:schemeClr val="dk1"/>
              </a:buClr>
              <a:buSzPts val="2400"/>
              <a:buFont typeface="Noto Sans Symbols"/>
              <a:buChar char="➢"/>
            </a:pPr>
            <a:r>
              <a:rPr lang="en-GB" sz="2400" b="0" i="0" u="none" strike="noStrike" cap="none">
                <a:solidFill>
                  <a:schemeClr val="dk1"/>
                </a:solidFill>
                <a:latin typeface="Calibri"/>
                <a:ea typeface="Calibri"/>
                <a:cs typeface="Calibri"/>
                <a:sym typeface="Calibri"/>
              </a:rPr>
              <a:t>You may have identified a gap in your knowledge and want to expand on it. </a:t>
            </a:r>
            <a:endParaRPr sz="2400"/>
          </a:p>
          <a:p>
            <a:pPr marL="342900" marR="0" lvl="0" indent="-170180" algn="l" rtl="0">
              <a:lnSpc>
                <a:spcPct val="80000"/>
              </a:lnSpc>
              <a:spcBef>
                <a:spcPts val="544"/>
              </a:spcBef>
              <a:spcAft>
                <a:spcPts val="0"/>
              </a:spcAft>
              <a:buClr>
                <a:schemeClr val="dk1"/>
              </a:buClr>
              <a:buSzPts val="2720"/>
              <a:buFont typeface="Noto Sans Symbols"/>
              <a:buNone/>
            </a:pPr>
            <a:endParaRPr sz="2400" b="0" i="0" u="none" strike="noStrike" cap="none">
              <a:solidFill>
                <a:schemeClr val="dk1"/>
              </a:solidFill>
              <a:latin typeface="Calibri"/>
              <a:ea typeface="Calibri"/>
              <a:cs typeface="Calibri"/>
              <a:sym typeface="Calibri"/>
            </a:endParaRPr>
          </a:p>
          <a:p>
            <a:pPr marL="342900" marR="0" lvl="0" indent="-322580" algn="l" rtl="0">
              <a:lnSpc>
                <a:spcPct val="80000"/>
              </a:lnSpc>
              <a:spcBef>
                <a:spcPts val="544"/>
              </a:spcBef>
              <a:spcAft>
                <a:spcPts val="0"/>
              </a:spcAft>
              <a:buClr>
                <a:schemeClr val="dk1"/>
              </a:buClr>
              <a:buSzPts val="2400"/>
              <a:buFont typeface="Arial"/>
              <a:buChar char="•"/>
            </a:pPr>
            <a:r>
              <a:rPr lang="en-GB" sz="2400" b="0" i="0" u="none" strike="noStrike" cap="none">
                <a:solidFill>
                  <a:schemeClr val="dk1"/>
                </a:solidFill>
                <a:latin typeface="Calibri"/>
                <a:ea typeface="Calibri"/>
                <a:cs typeface="Calibri"/>
                <a:sym typeface="Calibri"/>
              </a:rPr>
              <a:t>Try and identify </a:t>
            </a:r>
            <a:r>
              <a:rPr lang="en-GB" sz="2400" b="0" i="0" u="sng" strike="noStrike" cap="none">
                <a:solidFill>
                  <a:schemeClr val="dk1"/>
                </a:solidFill>
                <a:latin typeface="Calibri"/>
                <a:ea typeface="Calibri"/>
                <a:cs typeface="Calibri"/>
                <a:sym typeface="Calibri"/>
              </a:rPr>
              <a:t>3</a:t>
            </a:r>
            <a:r>
              <a:rPr lang="en-GB" sz="2400" b="0" i="0" u="none" strike="noStrike" cap="none">
                <a:solidFill>
                  <a:schemeClr val="dk1"/>
                </a:solidFill>
                <a:latin typeface="Calibri"/>
                <a:ea typeface="Calibri"/>
                <a:cs typeface="Calibri"/>
                <a:sym typeface="Calibri"/>
              </a:rPr>
              <a:t> possible areas</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3"/>
          <p:cNvSpPr txBox="1">
            <a:spLocks noGrp="1"/>
          </p:cNvSpPr>
          <p:nvPr>
            <p:ph type="title"/>
          </p:nvPr>
        </p:nvSpPr>
        <p:spPr>
          <a:xfrm>
            <a:off x="467544" y="-99392"/>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sng" strike="noStrike" cap="none">
                <a:solidFill>
                  <a:schemeClr val="dk1"/>
                </a:solidFill>
                <a:latin typeface="Calibri"/>
                <a:ea typeface="Calibri"/>
                <a:cs typeface="Calibri"/>
                <a:sym typeface="Calibri"/>
              </a:rPr>
              <a:t>Narrow the topic down…</a:t>
            </a:r>
            <a:endParaRPr sz="4400" b="0" i="0" u="sng" strike="noStrike" cap="none">
              <a:solidFill>
                <a:schemeClr val="dk1"/>
              </a:solidFill>
              <a:latin typeface="Calibri"/>
              <a:ea typeface="Calibri"/>
              <a:cs typeface="Calibri"/>
              <a:sym typeface="Calibri"/>
            </a:endParaRPr>
          </a:p>
        </p:txBody>
      </p:sp>
      <p:sp>
        <p:nvSpPr>
          <p:cNvPr id="145" name="Google Shape;145;p23"/>
          <p:cNvSpPr txBox="1">
            <a:spLocks noGrp="1"/>
          </p:cNvSpPr>
          <p:nvPr>
            <p:ph type="body" idx="1"/>
          </p:nvPr>
        </p:nvSpPr>
        <p:spPr>
          <a:xfrm>
            <a:off x="179512" y="980728"/>
            <a:ext cx="8856984" cy="576064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3200"/>
              <a:buFont typeface="Arial"/>
              <a:buChar char="•"/>
            </a:pPr>
            <a:r>
              <a:rPr lang="en-GB" sz="3200" b="0" i="0" u="none" strike="noStrike" cap="none">
                <a:solidFill>
                  <a:schemeClr val="dk1"/>
                </a:solidFill>
                <a:latin typeface="Calibri"/>
                <a:ea typeface="Calibri"/>
                <a:cs typeface="Calibri"/>
                <a:sym typeface="Calibri"/>
              </a:rPr>
              <a:t>What specifically about a topic interests you? </a:t>
            </a:r>
            <a:endParaRPr/>
          </a:p>
          <a:p>
            <a:pPr marL="0" marR="0" lvl="0" indent="0" algn="l" rtl="0">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l" rtl="0">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p:txBody>
      </p:sp>
      <p:sp>
        <p:nvSpPr>
          <p:cNvPr id="146" name="Google Shape;146;p23"/>
          <p:cNvSpPr/>
          <p:nvPr/>
        </p:nvSpPr>
        <p:spPr>
          <a:xfrm>
            <a:off x="395536" y="1628800"/>
            <a:ext cx="8748464" cy="52292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46000" y="135000"/>
                </a:lnTo>
              </a:path>
            </a:pathLst>
          </a:custGeom>
          <a:noFill/>
          <a:ln>
            <a:noFill/>
          </a:ln>
        </p:spPr>
        <p:txBody>
          <a:bodyPr spcFirstLastPara="1" wrap="square" lIns="91425" tIns="45700" rIns="91425" bIns="45700" anchor="ctr" anchorCtr="1">
            <a:noAutofit/>
          </a:bodyPr>
          <a:lstStyle/>
          <a:p>
            <a:pPr marL="114300" marR="0" lvl="1" indent="-114300" algn="l" rtl="0">
              <a:lnSpc>
                <a:spcPct val="75000"/>
              </a:lnSpc>
              <a:spcBef>
                <a:spcPts val="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World War One</a:t>
            </a:r>
            <a:endParaRPr sz="1800" b="0" i="0" u="none" strike="noStrike" cap="none">
              <a:solidFill>
                <a:schemeClr val="dk1"/>
              </a:solidFill>
              <a:latin typeface="Calibri"/>
              <a:ea typeface="Calibri"/>
              <a:cs typeface="Calibri"/>
              <a:sym typeface="Calibri"/>
            </a:endParaRPr>
          </a:p>
          <a:p>
            <a:pPr marL="228600" marR="0" lvl="2" indent="-114300" algn="l" rtl="0">
              <a:lnSpc>
                <a:spcPct val="75000"/>
              </a:lnSpc>
              <a:spcBef>
                <a:spcPts val="18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Topic</a:t>
            </a:r>
            <a:endParaRPr sz="1800" b="0" i="0" u="none" strike="noStrike" cap="none">
              <a:solidFill>
                <a:schemeClr val="dk1"/>
              </a:solidFill>
              <a:latin typeface="Calibri"/>
              <a:ea typeface="Calibri"/>
              <a:cs typeface="Calibri"/>
              <a:sym typeface="Calibri"/>
            </a:endParaRPr>
          </a:p>
          <a:p>
            <a:pPr marL="114300" marR="0" lvl="1"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114300" marR="0" lvl="1" indent="-114300" algn="l" rtl="0">
              <a:lnSpc>
                <a:spcPct val="75000"/>
              </a:lnSpc>
              <a:spcBef>
                <a:spcPts val="18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Causes</a:t>
            </a:r>
            <a:endParaRPr sz="1800" b="0" i="0" u="none" strike="noStrike" cap="none">
              <a:solidFill>
                <a:schemeClr val="dk1"/>
              </a:solidFill>
              <a:latin typeface="Calibri"/>
              <a:ea typeface="Calibri"/>
              <a:cs typeface="Calibri"/>
              <a:sym typeface="Calibri"/>
            </a:endParaRPr>
          </a:p>
          <a:p>
            <a:pPr marL="228600" marR="0" lvl="2" indent="-114300" algn="l" rtl="0">
              <a:lnSpc>
                <a:spcPct val="75000"/>
              </a:lnSpc>
              <a:spcBef>
                <a:spcPts val="18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Specific area</a:t>
            </a:r>
            <a:endParaRPr sz="1800" b="0" i="0" u="none" strike="noStrike" cap="none">
              <a:solidFill>
                <a:schemeClr val="dk1"/>
              </a:solidFill>
              <a:latin typeface="Calibri"/>
              <a:ea typeface="Calibri"/>
              <a:cs typeface="Calibri"/>
              <a:sym typeface="Calibri"/>
            </a:endParaRPr>
          </a:p>
          <a:p>
            <a:pPr marL="114300" marR="0" lvl="1"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114300" marR="0" lvl="1" indent="-114300" algn="l" rtl="0">
              <a:lnSpc>
                <a:spcPct val="75000"/>
              </a:lnSpc>
              <a:spcBef>
                <a:spcPts val="18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Why was there a World War?</a:t>
            </a:r>
            <a:endParaRPr sz="1800" b="0" i="0" u="none" strike="noStrike" cap="none">
              <a:solidFill>
                <a:schemeClr val="dk1"/>
              </a:solidFill>
              <a:latin typeface="Calibri"/>
              <a:ea typeface="Calibri"/>
              <a:cs typeface="Calibri"/>
              <a:sym typeface="Calibri"/>
            </a:endParaRPr>
          </a:p>
          <a:p>
            <a:pPr marL="228600" marR="0" lvl="2" indent="-114300" algn="l" rtl="0">
              <a:lnSpc>
                <a:spcPct val="75000"/>
              </a:lnSpc>
              <a:spcBef>
                <a:spcPts val="18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Specific Question</a:t>
            </a:r>
            <a:endParaRPr sz="1800" b="0" i="0" u="none" strike="noStrike" cap="none">
              <a:solidFill>
                <a:schemeClr val="dk1"/>
              </a:solidFill>
              <a:latin typeface="Calibri"/>
              <a:ea typeface="Calibri"/>
              <a:cs typeface="Calibri"/>
              <a:sym typeface="Calibri"/>
            </a:endParaRPr>
          </a:p>
          <a:p>
            <a:pPr marL="114300" marR="0" lvl="1"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114300" marR="0" lvl="1" indent="-114300" algn="l" rtl="0">
              <a:lnSpc>
                <a:spcPct val="75000"/>
              </a:lnSpc>
              <a:spcBef>
                <a:spcPts val="18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To what extent was German Imperial Ambition to blame for World War One?</a:t>
            </a:r>
            <a:endParaRPr sz="1800" b="0" i="0" u="none" strike="noStrike" cap="none">
              <a:solidFill>
                <a:schemeClr val="dk1"/>
              </a:solidFill>
              <a:latin typeface="Calibri"/>
              <a:ea typeface="Calibri"/>
              <a:cs typeface="Calibri"/>
              <a:sym typeface="Calibri"/>
            </a:endParaRPr>
          </a:p>
          <a:p>
            <a:pPr marL="228600" marR="0" lvl="2" indent="-114300" algn="l" rtl="0">
              <a:lnSpc>
                <a:spcPct val="75000"/>
              </a:lnSpc>
              <a:spcBef>
                <a:spcPts val="180"/>
              </a:spcBef>
              <a:spcAft>
                <a:spcPts val="0"/>
              </a:spcAft>
              <a:buClr>
                <a:schemeClr val="dk1"/>
              </a:buClr>
              <a:buSzPts val="900"/>
              <a:buFont typeface="Calibri"/>
              <a:buChar char="•"/>
            </a:pPr>
            <a:r>
              <a:rPr lang="en-GB" sz="900" b="0" i="0" u="none" strike="noStrike" cap="none">
                <a:solidFill>
                  <a:schemeClr val="dk1"/>
                </a:solidFill>
                <a:latin typeface="Calibri"/>
                <a:ea typeface="Calibri"/>
                <a:cs typeface="Calibri"/>
                <a:sym typeface="Calibri"/>
              </a:rPr>
              <a:t>Introduction of named factor and therefore interpretation/debate</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4"/>
          <p:cNvSpPr txBox="1">
            <a:spLocks noGrp="1"/>
          </p:cNvSpPr>
          <p:nvPr>
            <p:ph type="title"/>
          </p:nvPr>
        </p:nvSpPr>
        <p:spPr>
          <a:xfrm>
            <a:off x="467544" y="-720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sng" strike="noStrike" cap="none">
                <a:solidFill>
                  <a:schemeClr val="dk1"/>
                </a:solidFill>
                <a:latin typeface="Calibri"/>
                <a:ea typeface="Calibri"/>
                <a:cs typeface="Calibri"/>
                <a:sym typeface="Calibri"/>
              </a:rPr>
              <a:t>Key Questions to ask</a:t>
            </a:r>
            <a:endParaRPr sz="4400" b="0" i="0" u="sng" strike="noStrike" cap="none">
              <a:solidFill>
                <a:schemeClr val="dk1"/>
              </a:solidFill>
              <a:latin typeface="Calibri"/>
              <a:ea typeface="Calibri"/>
              <a:cs typeface="Calibri"/>
              <a:sym typeface="Calibri"/>
            </a:endParaRPr>
          </a:p>
        </p:txBody>
      </p:sp>
      <p:sp>
        <p:nvSpPr>
          <p:cNvPr id="152" name="Google Shape;152;p24"/>
          <p:cNvSpPr txBox="1">
            <a:spLocks noGrp="1"/>
          </p:cNvSpPr>
          <p:nvPr>
            <p:ph type="body" idx="1"/>
          </p:nvPr>
        </p:nvSpPr>
        <p:spPr>
          <a:xfrm>
            <a:off x="107504" y="1052736"/>
            <a:ext cx="8928992" cy="5616624"/>
          </a:xfrm>
          <a:prstGeom prst="rect">
            <a:avLst/>
          </a:prstGeom>
          <a:noFill/>
          <a:ln>
            <a:noFill/>
          </a:ln>
        </p:spPr>
        <p:txBody>
          <a:bodyPr spcFirstLastPara="1" wrap="square" lIns="91425" tIns="45700" rIns="91425" bIns="45700" anchor="t" anchorCtr="0">
            <a:noAutofit/>
          </a:bodyPr>
          <a:lstStyle/>
          <a:p>
            <a:pPr marL="514350" marR="0" lvl="0" indent="-468630" algn="l" rtl="0">
              <a:lnSpc>
                <a:spcPct val="90000"/>
              </a:lnSpc>
              <a:spcBef>
                <a:spcPts val="0"/>
              </a:spcBef>
              <a:spcAft>
                <a:spcPts val="0"/>
              </a:spcAft>
              <a:buClr>
                <a:schemeClr val="dk1"/>
              </a:buClr>
              <a:buSzPts val="2000"/>
              <a:buFont typeface="Arial"/>
              <a:buAutoNum type="arabicParenR"/>
            </a:pPr>
            <a:r>
              <a:rPr lang="en-GB" sz="2000" b="0" i="0" u="none" strike="noStrike" cap="none">
                <a:solidFill>
                  <a:schemeClr val="dk1"/>
                </a:solidFill>
                <a:latin typeface="Calibri"/>
                <a:ea typeface="Calibri"/>
                <a:cs typeface="Calibri"/>
                <a:sym typeface="Calibri"/>
              </a:rPr>
              <a:t>Is it an Open Question?</a:t>
            </a:r>
            <a:endParaRPr sz="2000"/>
          </a:p>
          <a:p>
            <a:pPr marL="1143000" marR="0" lvl="2" indent="-226060" algn="l" rtl="0">
              <a:lnSpc>
                <a:spcPct val="90000"/>
              </a:lnSpc>
              <a:spcBef>
                <a:spcPts val="408"/>
              </a:spcBef>
              <a:spcAft>
                <a:spcPts val="0"/>
              </a:spcAft>
              <a:buClr>
                <a:schemeClr val="dk1"/>
              </a:buClr>
              <a:buSzPts val="2000"/>
              <a:buFont typeface="Noto Sans Symbols"/>
              <a:buChar char="➢"/>
            </a:pPr>
            <a:r>
              <a:rPr lang="en-GB" sz="2000" b="0" i="0" u="none" strike="noStrike" cap="none">
                <a:solidFill>
                  <a:schemeClr val="dk1"/>
                </a:solidFill>
                <a:latin typeface="Calibri"/>
                <a:ea typeface="Calibri"/>
                <a:cs typeface="Calibri"/>
                <a:sym typeface="Calibri"/>
              </a:rPr>
              <a:t>For example; ‘Explain why Germany caused World War II’ is not an open question, ‘How far was Germany responsible for World War Two?’ is.</a:t>
            </a:r>
            <a:endParaRPr sz="2000"/>
          </a:p>
          <a:p>
            <a:pPr marL="914400" marR="0" lvl="2" indent="0" algn="l" rtl="0">
              <a:lnSpc>
                <a:spcPct val="90000"/>
              </a:lnSpc>
              <a:spcBef>
                <a:spcPts val="408"/>
              </a:spcBef>
              <a:spcAft>
                <a:spcPts val="0"/>
              </a:spcAft>
              <a:buClr>
                <a:schemeClr val="dk1"/>
              </a:buClr>
              <a:buSzPts val="2040"/>
              <a:buFont typeface="Arial"/>
              <a:buNone/>
            </a:pPr>
            <a:endParaRPr sz="2000" b="0" i="0" u="none" strike="noStrike" cap="none">
              <a:solidFill>
                <a:schemeClr val="dk1"/>
              </a:solidFill>
              <a:latin typeface="Calibri"/>
              <a:ea typeface="Calibri"/>
              <a:cs typeface="Calibri"/>
              <a:sym typeface="Calibri"/>
            </a:endParaRPr>
          </a:p>
          <a:p>
            <a:pPr marL="114300" marR="0" lvl="0" indent="0" algn="l" rtl="0">
              <a:lnSpc>
                <a:spcPct val="90000"/>
              </a:lnSpc>
              <a:spcBef>
                <a:spcPts val="544"/>
              </a:spcBef>
              <a:spcAft>
                <a:spcPts val="0"/>
              </a:spcAft>
              <a:buClr>
                <a:schemeClr val="dk1"/>
              </a:buClr>
              <a:buSzPts val="2720"/>
              <a:buFont typeface="Arial"/>
              <a:buNone/>
            </a:pPr>
            <a:r>
              <a:rPr lang="en-GB" sz="2000" b="0" i="0" u="none" strike="noStrike" cap="none">
                <a:solidFill>
                  <a:schemeClr val="dk1"/>
                </a:solidFill>
                <a:latin typeface="Calibri"/>
                <a:ea typeface="Calibri"/>
                <a:cs typeface="Calibri"/>
                <a:sym typeface="Calibri"/>
              </a:rPr>
              <a:t>2) Is there any real scope for discussion?</a:t>
            </a:r>
            <a:endParaRPr sz="2000"/>
          </a:p>
          <a:p>
            <a:pPr marL="1371600" marR="0" lvl="2" indent="-454660" algn="l" rtl="0">
              <a:lnSpc>
                <a:spcPct val="90000"/>
              </a:lnSpc>
              <a:spcBef>
                <a:spcPts val="408"/>
              </a:spcBef>
              <a:spcAft>
                <a:spcPts val="0"/>
              </a:spcAft>
              <a:buClr>
                <a:schemeClr val="dk1"/>
              </a:buClr>
              <a:buSzPts val="2000"/>
              <a:buFont typeface="Noto Sans Symbols"/>
              <a:buChar char="➢"/>
            </a:pPr>
            <a:r>
              <a:rPr lang="en-GB" sz="2000" b="0" i="0" u="none" strike="noStrike" cap="none">
                <a:solidFill>
                  <a:schemeClr val="dk1"/>
                </a:solidFill>
                <a:latin typeface="Calibri"/>
                <a:ea typeface="Calibri"/>
                <a:cs typeface="Calibri"/>
                <a:sym typeface="Calibri"/>
              </a:rPr>
              <a:t>‘A War which scarred Europe’ How far do you agree with this view of WWII?’ is not really indisputable. ‘Stalin was most repsonsible for the Cold War’ How far do you agree? Opens up lots of discussion. </a:t>
            </a:r>
            <a:endParaRPr sz="2000"/>
          </a:p>
          <a:p>
            <a:pPr marL="1371600" marR="0" lvl="2" indent="-327660" algn="l" rtl="0">
              <a:lnSpc>
                <a:spcPct val="90000"/>
              </a:lnSpc>
              <a:spcBef>
                <a:spcPts val="408"/>
              </a:spcBef>
              <a:spcAft>
                <a:spcPts val="0"/>
              </a:spcAft>
              <a:buClr>
                <a:schemeClr val="dk1"/>
              </a:buClr>
              <a:buSzPts val="2040"/>
              <a:buFont typeface="Noto Sans Symbols"/>
              <a:buNone/>
            </a:pPr>
            <a:endParaRPr sz="2000" b="0" i="0" u="none" strike="noStrike" cap="none">
              <a:solidFill>
                <a:schemeClr val="dk1"/>
              </a:solidFill>
              <a:latin typeface="Calibri"/>
              <a:ea typeface="Calibri"/>
              <a:cs typeface="Calibri"/>
              <a:sym typeface="Calibri"/>
            </a:endParaRPr>
          </a:p>
          <a:p>
            <a:pPr marL="114300" marR="0" lvl="0" indent="0" algn="l" rtl="0">
              <a:lnSpc>
                <a:spcPct val="90000"/>
              </a:lnSpc>
              <a:spcBef>
                <a:spcPts val="544"/>
              </a:spcBef>
              <a:spcAft>
                <a:spcPts val="0"/>
              </a:spcAft>
              <a:buClr>
                <a:schemeClr val="dk1"/>
              </a:buClr>
              <a:buSzPts val="2720"/>
              <a:buFont typeface="Arial"/>
              <a:buNone/>
            </a:pPr>
            <a:r>
              <a:rPr lang="en-GB" sz="2000" b="0" i="0" u="none" strike="noStrike" cap="none">
                <a:solidFill>
                  <a:schemeClr val="dk1"/>
                </a:solidFill>
                <a:latin typeface="Calibri"/>
                <a:ea typeface="Calibri"/>
                <a:cs typeface="Calibri"/>
                <a:sym typeface="Calibri"/>
              </a:rPr>
              <a:t>3) Are there 10-15 Sources accessible?</a:t>
            </a:r>
            <a:endParaRPr sz="2000"/>
          </a:p>
          <a:p>
            <a:pPr marL="1371600" marR="0" lvl="2" indent="-454660" algn="l" rtl="0">
              <a:lnSpc>
                <a:spcPct val="90000"/>
              </a:lnSpc>
              <a:spcBef>
                <a:spcPts val="408"/>
              </a:spcBef>
              <a:spcAft>
                <a:spcPts val="0"/>
              </a:spcAft>
              <a:buClr>
                <a:schemeClr val="dk1"/>
              </a:buClr>
              <a:buSzPts val="2000"/>
              <a:buFont typeface="Noto Sans Symbols"/>
              <a:buChar char="➢"/>
            </a:pPr>
            <a:r>
              <a:rPr lang="en-GB" sz="2000" b="0" i="0" u="none" strike="noStrike" cap="none">
                <a:solidFill>
                  <a:schemeClr val="dk1"/>
                </a:solidFill>
                <a:latin typeface="Calibri"/>
                <a:ea typeface="Calibri"/>
                <a:cs typeface="Calibri"/>
                <a:sym typeface="Calibri"/>
              </a:rPr>
              <a:t>‘How far were 12</a:t>
            </a:r>
            <a:r>
              <a:rPr lang="en-GB" sz="2000" b="0" i="0" u="none" strike="noStrike" cap="none" baseline="30000">
                <a:solidFill>
                  <a:schemeClr val="dk1"/>
                </a:solidFill>
                <a:latin typeface="Calibri"/>
                <a:ea typeface="Calibri"/>
                <a:cs typeface="Calibri"/>
                <a:sym typeface="Calibri"/>
              </a:rPr>
              <a:t>th</a:t>
            </a:r>
            <a:r>
              <a:rPr lang="en-GB" sz="2000" b="0" i="0" u="none" strike="noStrike" cap="none">
                <a:solidFill>
                  <a:schemeClr val="dk1"/>
                </a:solidFill>
                <a:latin typeface="Calibri"/>
                <a:ea typeface="Calibri"/>
                <a:cs typeface="Calibri"/>
                <a:sym typeface="Calibri"/>
              </a:rPr>
              <a:t> Century Byzantine Mosaics following earlier trends?’ is an interesting question but will you find enough material? </a:t>
            </a:r>
            <a:endParaRPr sz="2000"/>
          </a:p>
          <a:p>
            <a:pPr marL="1371600" marR="0" lvl="2" indent="-327660" algn="l" rtl="0">
              <a:lnSpc>
                <a:spcPct val="90000"/>
              </a:lnSpc>
              <a:spcBef>
                <a:spcPts val="408"/>
              </a:spcBef>
              <a:spcAft>
                <a:spcPts val="0"/>
              </a:spcAft>
              <a:buClr>
                <a:schemeClr val="dk1"/>
              </a:buClr>
              <a:buSzPts val="2040"/>
              <a:buFont typeface="Noto Sans Symbols"/>
              <a:buNone/>
            </a:pPr>
            <a:endParaRPr sz="2000" b="0" i="0" u="none" strike="noStrike" cap="none">
              <a:solidFill>
                <a:schemeClr val="dk1"/>
              </a:solidFill>
              <a:latin typeface="Calibri"/>
              <a:ea typeface="Calibri"/>
              <a:cs typeface="Calibri"/>
              <a:sym typeface="Calibri"/>
            </a:endParaRPr>
          </a:p>
          <a:p>
            <a:pPr marL="114300" marR="0" lvl="0" indent="0" algn="l" rtl="0">
              <a:lnSpc>
                <a:spcPct val="90000"/>
              </a:lnSpc>
              <a:spcBef>
                <a:spcPts val="544"/>
              </a:spcBef>
              <a:spcAft>
                <a:spcPts val="0"/>
              </a:spcAft>
              <a:buClr>
                <a:schemeClr val="dk1"/>
              </a:buClr>
              <a:buSzPts val="2720"/>
              <a:buFont typeface="Arial"/>
              <a:buNone/>
            </a:pPr>
            <a:r>
              <a:rPr lang="en-GB" sz="2000" b="0" i="0" u="none" strike="noStrike" cap="none">
                <a:solidFill>
                  <a:schemeClr val="dk1"/>
                </a:solidFill>
                <a:latin typeface="Calibri"/>
                <a:ea typeface="Calibri"/>
                <a:cs typeface="Calibri"/>
                <a:sym typeface="Calibri"/>
              </a:rPr>
              <a:t>4) Are you doing the topic for Unit 3?</a:t>
            </a:r>
            <a:endParaRPr sz="2000"/>
          </a:p>
          <a:p>
            <a:pPr marL="1371600" marR="0" lvl="2" indent="-454660" algn="l" rtl="0">
              <a:lnSpc>
                <a:spcPct val="90000"/>
              </a:lnSpc>
              <a:spcBef>
                <a:spcPts val="408"/>
              </a:spcBef>
              <a:spcAft>
                <a:spcPts val="0"/>
              </a:spcAft>
              <a:buClr>
                <a:schemeClr val="dk1"/>
              </a:buClr>
              <a:buSzPts val="2000"/>
              <a:buFont typeface="Noto Sans Symbols"/>
              <a:buChar char="➢"/>
            </a:pPr>
            <a:r>
              <a:rPr lang="en-GB" sz="2000" b="0" i="0" u="none" strike="noStrike" cap="none">
                <a:solidFill>
                  <a:schemeClr val="dk1"/>
                </a:solidFill>
                <a:latin typeface="Calibri"/>
                <a:ea typeface="Calibri"/>
                <a:cs typeface="Calibri"/>
                <a:sym typeface="Calibri"/>
              </a:rPr>
              <a:t>‘How far was the Provisional Government a success in 1917?’ would not be allowed, for example. </a:t>
            </a:r>
            <a:endParaRPr sz="20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2">
                                            <p:txEl>
                                              <p:pRg st="0" end="0"/>
                                            </p:txEl>
                                          </p:spTgt>
                                        </p:tgtEl>
                                        <p:attrNameLst>
                                          <p:attrName>style.visibility</p:attrName>
                                        </p:attrNameLst>
                                      </p:cBhvr>
                                      <p:to>
                                        <p:strVal val="visible"/>
                                      </p:to>
                                    </p:set>
                                    <p:anim calcmode="lin" valueType="num">
                                      <p:cBhvr additive="base">
                                        <p:cTn id="7" dur="500"/>
                                        <p:tgtEl>
                                          <p:spTgt spid="15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2">
                                            <p:txEl>
                                              <p:pRg st="1" end="1"/>
                                            </p:txEl>
                                          </p:spTgt>
                                        </p:tgtEl>
                                        <p:attrNameLst>
                                          <p:attrName>style.visibility</p:attrName>
                                        </p:attrNameLst>
                                      </p:cBhvr>
                                      <p:to>
                                        <p:strVal val="visible"/>
                                      </p:to>
                                    </p:set>
                                    <p:anim calcmode="lin" valueType="num">
                                      <p:cBhvr additive="base">
                                        <p:cTn id="12" dur="500"/>
                                        <p:tgtEl>
                                          <p:spTgt spid="15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2">
                                            <p:txEl>
                                              <p:pRg st="2" end="2"/>
                                            </p:txEl>
                                          </p:spTgt>
                                        </p:tgtEl>
                                        <p:attrNameLst>
                                          <p:attrName>style.visibility</p:attrName>
                                        </p:attrNameLst>
                                      </p:cBhvr>
                                      <p:to>
                                        <p:strVal val="visible"/>
                                      </p:to>
                                    </p:set>
                                    <p:anim calcmode="lin" valueType="num">
                                      <p:cBhvr additive="base">
                                        <p:cTn id="17" dur="500"/>
                                        <p:tgtEl>
                                          <p:spTgt spid="15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52">
                                            <p:txEl>
                                              <p:pRg st="3" end="3"/>
                                            </p:txEl>
                                          </p:spTgt>
                                        </p:tgtEl>
                                        <p:attrNameLst>
                                          <p:attrName>style.visibility</p:attrName>
                                        </p:attrNameLst>
                                      </p:cBhvr>
                                      <p:to>
                                        <p:strVal val="visible"/>
                                      </p:to>
                                    </p:set>
                                    <p:anim calcmode="lin" valueType="num">
                                      <p:cBhvr additive="base">
                                        <p:cTn id="22" dur="500"/>
                                        <p:tgtEl>
                                          <p:spTgt spid="15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52">
                                            <p:txEl>
                                              <p:pRg st="4" end="4"/>
                                            </p:txEl>
                                          </p:spTgt>
                                        </p:tgtEl>
                                        <p:attrNameLst>
                                          <p:attrName>style.visibility</p:attrName>
                                        </p:attrNameLst>
                                      </p:cBhvr>
                                      <p:to>
                                        <p:strVal val="visible"/>
                                      </p:to>
                                    </p:set>
                                    <p:anim calcmode="lin" valueType="num">
                                      <p:cBhvr additive="base">
                                        <p:cTn id="27" dur="500"/>
                                        <p:tgtEl>
                                          <p:spTgt spid="15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52">
                                            <p:txEl>
                                              <p:pRg st="5" end="5"/>
                                            </p:txEl>
                                          </p:spTgt>
                                        </p:tgtEl>
                                        <p:attrNameLst>
                                          <p:attrName>style.visibility</p:attrName>
                                        </p:attrNameLst>
                                      </p:cBhvr>
                                      <p:to>
                                        <p:strVal val="visible"/>
                                      </p:to>
                                    </p:set>
                                    <p:anim calcmode="lin" valueType="num">
                                      <p:cBhvr additive="base">
                                        <p:cTn id="32" dur="500"/>
                                        <p:tgtEl>
                                          <p:spTgt spid="15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2">
                                            <p:txEl>
                                              <p:pRg st="6" end="6"/>
                                            </p:txEl>
                                          </p:spTgt>
                                        </p:tgtEl>
                                        <p:attrNameLst>
                                          <p:attrName>style.visibility</p:attrName>
                                        </p:attrNameLst>
                                      </p:cBhvr>
                                      <p:to>
                                        <p:strVal val="visible"/>
                                      </p:to>
                                    </p:set>
                                    <p:anim calcmode="lin" valueType="num">
                                      <p:cBhvr additive="base">
                                        <p:cTn id="37" dur="500"/>
                                        <p:tgtEl>
                                          <p:spTgt spid="15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52">
                                            <p:txEl>
                                              <p:pRg st="7" end="7"/>
                                            </p:txEl>
                                          </p:spTgt>
                                        </p:tgtEl>
                                        <p:attrNameLst>
                                          <p:attrName>style.visibility</p:attrName>
                                        </p:attrNameLst>
                                      </p:cBhvr>
                                      <p:to>
                                        <p:strVal val="visible"/>
                                      </p:to>
                                    </p:set>
                                    <p:anim calcmode="lin" valueType="num">
                                      <p:cBhvr additive="base">
                                        <p:cTn id="42" dur="500"/>
                                        <p:tgtEl>
                                          <p:spTgt spid="15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52">
                                            <p:txEl>
                                              <p:pRg st="8" end="8"/>
                                            </p:txEl>
                                          </p:spTgt>
                                        </p:tgtEl>
                                        <p:attrNameLst>
                                          <p:attrName>style.visibility</p:attrName>
                                        </p:attrNameLst>
                                      </p:cBhvr>
                                      <p:to>
                                        <p:strVal val="visible"/>
                                      </p:to>
                                    </p:set>
                                    <p:anim calcmode="lin" valueType="num">
                                      <p:cBhvr additive="base">
                                        <p:cTn id="47" dur="500"/>
                                        <p:tgtEl>
                                          <p:spTgt spid="15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52">
                                            <p:txEl>
                                              <p:pRg st="9" end="9"/>
                                            </p:txEl>
                                          </p:spTgt>
                                        </p:tgtEl>
                                        <p:attrNameLst>
                                          <p:attrName>style.visibility</p:attrName>
                                        </p:attrNameLst>
                                      </p:cBhvr>
                                      <p:to>
                                        <p:strVal val="visible"/>
                                      </p:to>
                                    </p:set>
                                    <p:anim calcmode="lin" valueType="num">
                                      <p:cBhvr additive="base">
                                        <p:cTn id="52" dur="500"/>
                                        <p:tgtEl>
                                          <p:spTgt spid="15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52">
                                            <p:txEl>
                                              <p:pRg st="10" end="10"/>
                                            </p:txEl>
                                          </p:spTgt>
                                        </p:tgtEl>
                                        <p:attrNameLst>
                                          <p:attrName>style.visibility</p:attrName>
                                        </p:attrNameLst>
                                      </p:cBhvr>
                                      <p:to>
                                        <p:strVal val="visible"/>
                                      </p:to>
                                    </p:set>
                                    <p:anim calcmode="lin" valueType="num">
                                      <p:cBhvr additive="base">
                                        <p:cTn id="57" dur="500"/>
                                        <p:tgtEl>
                                          <p:spTgt spid="152">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467544" y="-99392"/>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GB" sz="4400" b="0" i="0" u="sng" strike="noStrike" cap="none">
                <a:solidFill>
                  <a:schemeClr val="dk1"/>
                </a:solidFill>
                <a:latin typeface="Calibri"/>
                <a:ea typeface="Calibri"/>
                <a:cs typeface="Calibri"/>
                <a:sym typeface="Calibri"/>
              </a:rPr>
              <a:t>The Question</a:t>
            </a:r>
            <a:endParaRPr sz="4400" b="0" i="0" u="sng" strike="noStrike" cap="none">
              <a:solidFill>
                <a:schemeClr val="dk1"/>
              </a:solidFill>
              <a:latin typeface="Calibri"/>
              <a:ea typeface="Calibri"/>
              <a:cs typeface="Calibri"/>
              <a:sym typeface="Calibri"/>
            </a:endParaRPr>
          </a:p>
        </p:txBody>
      </p:sp>
      <p:sp>
        <p:nvSpPr>
          <p:cNvPr id="158" name="Google Shape;158;p25"/>
          <p:cNvSpPr txBox="1">
            <a:spLocks noGrp="1"/>
          </p:cNvSpPr>
          <p:nvPr>
            <p:ph type="body" idx="1"/>
          </p:nvPr>
        </p:nvSpPr>
        <p:spPr>
          <a:xfrm>
            <a:off x="179512" y="980728"/>
            <a:ext cx="8856984" cy="576064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3200"/>
              <a:buFont typeface="Arial"/>
              <a:buChar char="•"/>
            </a:pPr>
            <a:r>
              <a:rPr lang="en-GB" sz="3200" b="0" i="0" u="none" strike="noStrike" cap="none">
                <a:solidFill>
                  <a:schemeClr val="dk1"/>
                </a:solidFill>
                <a:latin typeface="Calibri"/>
                <a:ea typeface="Calibri"/>
                <a:cs typeface="Calibri"/>
                <a:sym typeface="Calibri"/>
              </a:rPr>
              <a:t>If you cannot get satisfactory answers to the key questions then start the process again. </a:t>
            </a:r>
            <a:endParaRPr/>
          </a:p>
          <a:p>
            <a:pPr marL="0" marR="0" lvl="0" indent="0" algn="l" rtl="0">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l" rtl="0">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p:txBody>
      </p:sp>
      <p:sp>
        <p:nvSpPr>
          <p:cNvPr id="159" name="Google Shape;159;p25"/>
          <p:cNvSpPr/>
          <p:nvPr/>
        </p:nvSpPr>
        <p:spPr>
          <a:xfrm>
            <a:off x="395536" y="2132856"/>
            <a:ext cx="8748464" cy="450912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46000" y="135000"/>
                </a:lnTo>
              </a:path>
            </a:pathLst>
          </a:custGeom>
          <a:noFill/>
          <a:ln>
            <a:noFill/>
          </a:ln>
        </p:spPr>
        <p:txBody>
          <a:bodyPr spcFirstLastPara="1" wrap="square" lIns="91425" tIns="45700" rIns="91425" bIns="45700" anchor="ctr" anchorCtr="1">
            <a:noAutofit/>
          </a:bodyPr>
          <a:lstStyle/>
          <a:p>
            <a:pPr marL="114300" marR="0" lvl="1" indent="-114300" algn="l" rtl="0">
              <a:lnSpc>
                <a:spcPct val="75000"/>
              </a:lnSpc>
              <a:spcBef>
                <a:spcPts val="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World War One</a:t>
            </a:r>
            <a:endParaRPr sz="1800" b="0" i="0" u="none" strike="noStrike" cap="none">
              <a:solidFill>
                <a:schemeClr val="dk1"/>
              </a:solidFill>
              <a:latin typeface="Calibri"/>
              <a:ea typeface="Calibri"/>
              <a:cs typeface="Calibri"/>
              <a:sym typeface="Calibri"/>
            </a:endParaRPr>
          </a:p>
          <a:p>
            <a:pPr marL="228600" marR="0" lvl="2" indent="-114300" algn="l" rtl="0">
              <a:lnSpc>
                <a:spcPct val="75000"/>
              </a:lnSpc>
              <a:spcBef>
                <a:spcPts val="18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Topic</a:t>
            </a:r>
            <a:endParaRPr sz="1800" b="0" i="0" u="none" strike="noStrike" cap="none">
              <a:solidFill>
                <a:schemeClr val="dk1"/>
              </a:solidFill>
              <a:latin typeface="Calibri"/>
              <a:ea typeface="Calibri"/>
              <a:cs typeface="Calibri"/>
              <a:sym typeface="Calibri"/>
            </a:endParaRPr>
          </a:p>
          <a:p>
            <a:pPr marL="114300" marR="0" lvl="1"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114300" marR="0" lvl="1" indent="-114300" algn="l" rtl="0">
              <a:lnSpc>
                <a:spcPct val="75000"/>
              </a:lnSpc>
              <a:spcBef>
                <a:spcPts val="18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Causes</a:t>
            </a:r>
            <a:endParaRPr sz="1800" b="0" i="0" u="none" strike="noStrike" cap="none">
              <a:solidFill>
                <a:schemeClr val="dk1"/>
              </a:solidFill>
              <a:latin typeface="Calibri"/>
              <a:ea typeface="Calibri"/>
              <a:cs typeface="Calibri"/>
              <a:sym typeface="Calibri"/>
            </a:endParaRPr>
          </a:p>
          <a:p>
            <a:pPr marL="228600" marR="0" lvl="2" indent="-114300" algn="l" rtl="0">
              <a:lnSpc>
                <a:spcPct val="75000"/>
              </a:lnSpc>
              <a:spcBef>
                <a:spcPts val="18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Specific area</a:t>
            </a:r>
            <a:endParaRPr sz="1800" b="0" i="0" u="none" strike="noStrike" cap="none">
              <a:solidFill>
                <a:schemeClr val="dk1"/>
              </a:solidFill>
              <a:latin typeface="Calibri"/>
              <a:ea typeface="Calibri"/>
              <a:cs typeface="Calibri"/>
              <a:sym typeface="Calibri"/>
            </a:endParaRPr>
          </a:p>
          <a:p>
            <a:pPr marL="114300" marR="0" lvl="1"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114300" marR="0" lvl="1" indent="-114300" algn="l" rtl="0">
              <a:lnSpc>
                <a:spcPct val="75000"/>
              </a:lnSpc>
              <a:spcBef>
                <a:spcPts val="18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Why was there a World War?</a:t>
            </a:r>
            <a:endParaRPr sz="1800" b="0" i="0" u="none" strike="noStrike" cap="none">
              <a:solidFill>
                <a:schemeClr val="dk1"/>
              </a:solidFill>
              <a:latin typeface="Calibri"/>
              <a:ea typeface="Calibri"/>
              <a:cs typeface="Calibri"/>
              <a:sym typeface="Calibri"/>
            </a:endParaRPr>
          </a:p>
          <a:p>
            <a:pPr marL="228600" marR="0" lvl="2" indent="-114300" algn="l" rtl="0">
              <a:lnSpc>
                <a:spcPct val="75000"/>
              </a:lnSpc>
              <a:spcBef>
                <a:spcPts val="18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Specific Question</a:t>
            </a:r>
            <a:endParaRPr sz="1800" b="0" i="0" u="none" strike="noStrike" cap="none">
              <a:solidFill>
                <a:schemeClr val="dk1"/>
              </a:solidFill>
              <a:latin typeface="Calibri"/>
              <a:ea typeface="Calibri"/>
              <a:cs typeface="Calibri"/>
              <a:sym typeface="Calibri"/>
            </a:endParaRPr>
          </a:p>
          <a:p>
            <a:pPr marL="114300" marR="0" lvl="1" indent="0" algn="l" rtl="0">
              <a:lnSpc>
                <a:spcPct val="75000"/>
              </a:lnSpc>
              <a:spcBef>
                <a:spcPts val="18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114300" marR="0" lvl="1" indent="-114300" algn="l" rtl="0">
              <a:lnSpc>
                <a:spcPct val="75000"/>
              </a:lnSpc>
              <a:spcBef>
                <a:spcPts val="180"/>
              </a:spcBef>
              <a:spcAft>
                <a:spcPts val="0"/>
              </a:spcAft>
              <a:buClr>
                <a:schemeClr val="dk1"/>
              </a:buClr>
              <a:buSzPts val="1800"/>
              <a:buFont typeface="Calibri"/>
              <a:buChar char="•"/>
            </a:pPr>
            <a:r>
              <a:rPr lang="en-GB" sz="1800" b="0" i="0" u="none" strike="noStrike" cap="none">
                <a:solidFill>
                  <a:schemeClr val="dk1"/>
                </a:solidFill>
                <a:latin typeface="Calibri"/>
                <a:ea typeface="Calibri"/>
                <a:cs typeface="Calibri"/>
                <a:sym typeface="Calibri"/>
              </a:rPr>
              <a:t>To what extent was German Imperial Ambition to blame for World War One?</a:t>
            </a:r>
            <a:endParaRPr sz="1800" b="0" i="0" u="none" strike="noStrike" cap="none">
              <a:solidFill>
                <a:schemeClr val="dk1"/>
              </a:solidFill>
              <a:latin typeface="Calibri"/>
              <a:ea typeface="Calibri"/>
              <a:cs typeface="Calibri"/>
              <a:sym typeface="Calibri"/>
            </a:endParaRPr>
          </a:p>
          <a:p>
            <a:pPr marL="228600" marR="0" lvl="2" indent="-114300" algn="l" rtl="0">
              <a:lnSpc>
                <a:spcPct val="75000"/>
              </a:lnSpc>
              <a:spcBef>
                <a:spcPts val="180"/>
              </a:spcBef>
              <a:spcAft>
                <a:spcPts val="0"/>
              </a:spcAft>
              <a:buClr>
                <a:schemeClr val="dk1"/>
              </a:buClr>
              <a:buSzPts val="900"/>
              <a:buFont typeface="Calibri"/>
              <a:buChar char="•"/>
            </a:pPr>
            <a:r>
              <a:rPr lang="en-GB" sz="900" b="0" i="0" u="none" strike="noStrike" cap="none">
                <a:solidFill>
                  <a:schemeClr val="dk1"/>
                </a:solidFill>
                <a:latin typeface="Calibri"/>
                <a:ea typeface="Calibri"/>
                <a:cs typeface="Calibri"/>
                <a:sym typeface="Calibri"/>
              </a:rPr>
              <a:t>Introduction of named factor and therefore interpretation/debate</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13</Slides>
  <Notes>13</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Coursework</vt:lpstr>
      <vt:lpstr>Main points</vt:lpstr>
      <vt:lpstr>Main points</vt:lpstr>
      <vt:lpstr>What you can expect</vt:lpstr>
      <vt:lpstr>A01</vt:lpstr>
      <vt:lpstr>A02</vt:lpstr>
      <vt:lpstr>A03</vt:lpstr>
      <vt:lpstr>Primary Sources</vt:lpstr>
      <vt:lpstr>Secondary Sources </vt:lpstr>
      <vt:lpstr>Picking a topic….</vt:lpstr>
      <vt:lpstr>Narrow the topic down…</vt:lpstr>
      <vt:lpstr>Key Questions to ask</vt:lpstr>
      <vt:lpstr>The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2026-07-02T04:10:00Z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e0653c8-e0a6-47f4-adf8-01034877a8f2_Enabled">
    <vt:lpwstr>true</vt:lpwstr>
  </property>
  <property fmtid="{D5CDD505-2E9C-101B-9397-08002B2CF9AE}" pid="3" name="MSIP_Label_0e0653c8-e0a6-47f4-adf8-01034877a8f2_SetDate">
    <vt:lpwstr>2026-07-02T04:09:47Z</vt:lpwstr>
  </property>
  <property fmtid="{D5CDD505-2E9C-101B-9397-08002B2CF9AE}" pid="4" name="MSIP_Label_0e0653c8-e0a6-47f4-adf8-01034877a8f2_Method">
    <vt:lpwstr>Standard</vt:lpwstr>
  </property>
  <property fmtid="{D5CDD505-2E9C-101B-9397-08002B2CF9AE}" pid="5" name="MSIP_Label_0e0653c8-e0a6-47f4-adf8-01034877a8f2_Name">
    <vt:lpwstr>Internal</vt:lpwstr>
  </property>
  <property fmtid="{D5CDD505-2E9C-101B-9397-08002B2CF9AE}" pid="6" name="MSIP_Label_0e0653c8-e0a6-47f4-adf8-01034877a8f2_SiteId">
    <vt:lpwstr>06d2dc82-6fed-4d3b-9218-37d34fb0405b</vt:lpwstr>
  </property>
  <property fmtid="{D5CDD505-2E9C-101B-9397-08002B2CF9AE}" pid="7" name="MSIP_Label_0e0653c8-e0a6-47f4-adf8-01034877a8f2_ActionId">
    <vt:lpwstr>f65aee73-bb86-49f8-a589-1d1ed82efb41</vt:lpwstr>
  </property>
  <property fmtid="{D5CDD505-2E9C-101B-9397-08002B2CF9AE}" pid="8" name="MSIP_Label_0e0653c8-e0a6-47f4-adf8-01034877a8f2_ContentBits">
    <vt:lpwstr>0</vt:lpwstr>
  </property>
  <property fmtid="{D5CDD505-2E9C-101B-9397-08002B2CF9AE}" pid="9" name="MSIP_Label_0e0653c8-e0a6-47f4-adf8-01034877a8f2_Tag">
    <vt:lpwstr>10, 3, 0, 2</vt:lpwstr>
  </property>
</Properties>
</file>